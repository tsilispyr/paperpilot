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200"/>
    <a:srgbClr val="F9F9F9"/>
    <a:srgbClr val="00FF00"/>
    <a:srgbClr val="FAFFF7"/>
    <a:srgbClr val="EEFFE5"/>
    <a:srgbClr val="062C14"/>
    <a:srgbClr val="0A4A21"/>
    <a:srgbClr val="FFE5FF"/>
    <a:srgbClr val="117936"/>
    <a:srgbClr val="FE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2" autoAdjust="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15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966B0-D6AF-4D3E-A4D2-E7E0083534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4DE42-0BD9-4D18-A696-DC59006AC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2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24DE42-0BD9-4D18-A696-DC59006AC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58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0"/>
            <a:ext cx="12188825" cy="29565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 err="1">
                <a:latin typeface="Arial Rounded MT Bold" panose="020F0704030504030204" pitchFamily="34" charset="0"/>
              </a:rPr>
              <a:t>PaperPilot</a:t>
            </a:r>
            <a:endParaRPr sz="54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/>
              <a:t>Agentic RAG System </a:t>
            </a:r>
            <a:r>
              <a:rPr lang="en-US" sz="2200" b="0" dirty="0" smtClean="0"/>
              <a:t>-</a:t>
            </a:r>
            <a:r>
              <a:rPr sz="2200" b="0" dirty="0" smtClean="0"/>
              <a:t> </a:t>
            </a:r>
            <a:r>
              <a:rPr sz="2200" b="0" dirty="0"/>
              <a:t>Evaluation &amp;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latin typeface="Arial Rounded MT Bold" panose="020F0704030504030204" pitchFamily="34" charset="0"/>
              </a:rPr>
              <a:t>LangGraph</a:t>
            </a:r>
            <a:r>
              <a:rPr sz="1400" b="0" dirty="0">
                <a:latin typeface="Arial Rounded MT Bold" panose="020F0704030504030204" pitchFamily="34" charset="0"/>
              </a:rPr>
              <a:t> </a:t>
            </a:r>
            <a:r>
              <a:rPr lang="en-US" sz="1400" b="0" dirty="0" smtClean="0">
                <a:latin typeface="Arial Rounded MT Bold" panose="020F0704030504030204" pitchFamily="34" charset="0"/>
              </a:rPr>
              <a:t>-</a:t>
            </a:r>
            <a:r>
              <a:rPr sz="1400" b="0" dirty="0" smtClean="0">
                <a:latin typeface="Arial Rounded MT Bold" panose="020F0704030504030204" pitchFamily="34" charset="0"/>
              </a:rPr>
              <a:t> </a:t>
            </a:r>
            <a:r>
              <a:rPr sz="1400" b="0" dirty="0" err="1">
                <a:latin typeface="Arial Rounded MT Bold" panose="020F0704030504030204" pitchFamily="34" charset="0"/>
              </a:rPr>
              <a:t>Qdrant</a:t>
            </a:r>
            <a:r>
              <a:rPr sz="1400" b="0" dirty="0">
                <a:latin typeface="Arial Rounded MT Bold" panose="020F0704030504030204" pitchFamily="34" charset="0"/>
              </a:rPr>
              <a:t> </a:t>
            </a:r>
            <a:r>
              <a:rPr lang="en-US" sz="1400" b="0" dirty="0" smtClean="0">
                <a:latin typeface="Arial Rounded MT Bold" panose="020F0704030504030204" pitchFamily="34" charset="0"/>
              </a:rPr>
              <a:t>-</a:t>
            </a:r>
            <a:r>
              <a:rPr sz="1400" b="0" dirty="0" smtClean="0">
                <a:latin typeface="Arial Rounded MT Bold" panose="020F0704030504030204" pitchFamily="34" charset="0"/>
              </a:rPr>
              <a:t> </a:t>
            </a:r>
            <a:r>
              <a:rPr sz="1400" b="0" dirty="0">
                <a:latin typeface="Arial Rounded MT Bold" panose="020F0704030504030204" pitchFamily="34" charset="0"/>
              </a:rPr>
              <a:t>RAGAS </a:t>
            </a:r>
            <a:r>
              <a:rPr lang="en-US" sz="1400" b="0" dirty="0" smtClean="0">
                <a:latin typeface="Arial Rounded MT Bold" panose="020F0704030504030204" pitchFamily="34" charset="0"/>
              </a:rPr>
              <a:t>-</a:t>
            </a:r>
            <a:r>
              <a:rPr sz="1400" b="0" dirty="0" smtClean="0">
                <a:latin typeface="Arial Rounded MT Bold" panose="020F0704030504030204" pitchFamily="34" charset="0"/>
              </a:rPr>
              <a:t> </a:t>
            </a:r>
            <a:r>
              <a:rPr sz="1400" b="0" dirty="0">
                <a:latin typeface="Arial Rounded MT Bold" panose="020F0704030504030204" pitchFamily="34" charset="0"/>
              </a:rPr>
              <a:t>HAIC </a:t>
            </a:r>
            <a:r>
              <a:rPr lang="en-US" sz="1400" b="0" dirty="0" smtClean="0">
                <a:latin typeface="Arial Rounded MT Bold" panose="020F0704030504030204" pitchFamily="34" charset="0"/>
              </a:rPr>
              <a:t>-</a:t>
            </a:r>
            <a:r>
              <a:rPr sz="1400" b="0" dirty="0" smtClean="0">
                <a:latin typeface="Arial Rounded MT Bold" panose="020F0704030504030204" pitchFamily="34" charset="0"/>
              </a:rPr>
              <a:t> Multi-Agent</a:t>
            </a:r>
            <a:endParaRPr sz="1400" b="0" dirty="0">
              <a:latin typeface="Arial Rounded MT Bold" panose="020F07040305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4672173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FFFFFF"/>
                </a:solidFill>
              </a:rPr>
              <a:t>Σπ</a:t>
            </a:r>
            <a:r>
              <a:rPr sz="2000" b="0" dirty="0" err="1">
                <a:solidFill>
                  <a:srgbClr val="FFFFFF"/>
                </a:solidFill>
              </a:rPr>
              <a:t>υρίδων</a:t>
            </a:r>
            <a:r>
              <a:rPr sz="2000" b="0" dirty="0">
                <a:solidFill>
                  <a:srgbClr val="FFFFFF"/>
                </a:solidFill>
              </a:rPr>
              <a:t> </a:t>
            </a:r>
            <a:r>
              <a:rPr sz="2000" b="0" dirty="0" err="1" smtClean="0">
                <a:solidFill>
                  <a:srgbClr val="FFFFFF"/>
                </a:solidFill>
              </a:rPr>
              <a:t>Τσ</a:t>
            </a:r>
            <a:r>
              <a:rPr lang="el-GR" sz="2000" b="0" dirty="0" smtClean="0">
                <a:solidFill>
                  <a:srgbClr val="FFFFFF"/>
                </a:solidFill>
              </a:rPr>
              <a:t>ι</a:t>
            </a:r>
            <a:r>
              <a:rPr sz="2000" b="0" dirty="0" err="1" smtClean="0">
                <a:solidFill>
                  <a:srgbClr val="FFFFFF"/>
                </a:solidFill>
              </a:rPr>
              <a:t>λιμ</a:t>
            </a:r>
            <a:r>
              <a:rPr sz="2000" b="0" dirty="0" smtClean="0">
                <a:solidFill>
                  <a:srgbClr val="FFFFFF"/>
                </a:solidFill>
              </a:rPr>
              <a:t>πώκος  </a:t>
            </a:r>
            <a:r>
              <a:rPr lang="en-US" sz="2000" dirty="0">
                <a:solidFill>
                  <a:srgbClr val="FFFFFF"/>
                </a:solidFill>
              </a:rPr>
              <a:t>-</a:t>
            </a:r>
            <a:r>
              <a:rPr sz="2000" b="0" dirty="0" smtClean="0">
                <a:solidFill>
                  <a:srgbClr val="FFFFFF"/>
                </a:solidFill>
              </a:rPr>
              <a:t>  25118</a:t>
            </a:r>
            <a:endParaRPr sz="2000" b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5206490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 err="1">
                <a:solidFill>
                  <a:srgbClr val="FFFFFF"/>
                </a:solidFill>
              </a:rPr>
              <a:t>Εφ</a:t>
            </a:r>
            <a:r>
              <a:rPr sz="1600" b="0" i="1" dirty="0">
                <a:solidFill>
                  <a:srgbClr val="FFFFFF"/>
                </a:solidFill>
              </a:rPr>
              <a:t>αρμογές Επιστήμης Δεδομένων &amp; Τεχνητής </a:t>
            </a:r>
            <a:r>
              <a:rPr sz="1600" b="0" i="1" dirty="0" smtClean="0">
                <a:solidFill>
                  <a:srgbClr val="FFFFFF"/>
                </a:solidFill>
              </a:rPr>
              <a:t>Νοημοσύνης</a:t>
            </a:r>
            <a:r>
              <a:rPr lang="en-US" sz="1600" b="0" i="1" dirty="0" smtClean="0">
                <a:solidFill>
                  <a:srgbClr val="FFFFFF"/>
                </a:solidFill>
              </a:rPr>
              <a:t> </a:t>
            </a:r>
            <a:r>
              <a:rPr lang="el-GR" sz="1600" i="1" dirty="0">
                <a:solidFill>
                  <a:srgbClr val="FFFFFF"/>
                </a:solidFill>
              </a:rPr>
              <a:t>- </a:t>
            </a:r>
            <a:r>
              <a:rPr lang="el-GR" sz="1600" i="1" dirty="0" smtClean="0">
                <a:solidFill>
                  <a:srgbClr val="FFFFFF"/>
                </a:solidFill>
              </a:rPr>
              <a:t>ΠΜΣ</a:t>
            </a:r>
            <a:endParaRPr lang="el-GR" sz="1600" i="1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5892516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FFFFF"/>
                </a:solidFill>
              </a:rPr>
              <a:t>Χα</a:t>
            </a:r>
            <a:r>
              <a:rPr sz="1600" b="0" i="1" dirty="0" err="1">
                <a:solidFill>
                  <a:srgbClr val="FFFFFF"/>
                </a:solidFill>
              </a:rPr>
              <a:t>ροκό</a:t>
            </a:r>
            <a:r>
              <a:rPr sz="1600" b="0" i="1" dirty="0">
                <a:solidFill>
                  <a:srgbClr val="FFFFFF"/>
                </a:solidFill>
              </a:rPr>
              <a:t>πειο Πανεπιστήμιο </a:t>
            </a:r>
            <a:r>
              <a:rPr sz="1600" b="0" i="1" dirty="0" smtClean="0">
                <a:solidFill>
                  <a:srgbClr val="FFFFFF"/>
                </a:solidFill>
              </a:rPr>
              <a:t>Αθηνών</a:t>
            </a:r>
            <a:endParaRPr sz="1600" b="0" i="1" dirty="0">
              <a:solidFill>
                <a:srgbClr val="FFFFFF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817" y="-83991"/>
            <a:ext cx="4950177" cy="11699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Ροή Παρουσίασης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8268" y="1353989"/>
            <a:ext cx="12318572" cy="481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1" dirty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01  Problem &amp; Motivation  </a:t>
            </a:r>
            <a:r>
              <a:rPr lang="el-GR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Γιατί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Agentic RAG </a:t>
            </a:r>
            <a:r>
              <a:rPr lang="el-GR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για ακαδημαϊκά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papers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;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02  </a:t>
            </a:r>
            <a:r>
              <a:rPr sz="2000" b="1" dirty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Corpus &amp; Data 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50 </a:t>
            </a:r>
            <a:r>
              <a:rPr lang="en-US" sz="2000" dirty="0" err="1">
                <a:solidFill>
                  <a:srgbClr val="1E293B"/>
                </a:solidFill>
                <a:latin typeface="Bahnschrift SemiLight SemiConde" panose="020B0502040204020203" pitchFamily="34" charset="0"/>
              </a:rPr>
              <a:t>ArXiv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 papers · 84 Golden Questions · 6 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categories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02b </a:t>
            </a:r>
            <a:r>
              <a:rPr sz="2000" b="1" dirty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Golden Set Construction  </a:t>
            </a:r>
            <a:r>
              <a:rPr lang="el-GR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3-σταδιακή κατασκευή ·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JSON schema · IC/OOC split · benchmark </a:t>
            </a:r>
            <a:r>
              <a:rPr lang="el-GR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αξία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03  </a:t>
            </a:r>
            <a:r>
              <a:rPr sz="2000" b="1" dirty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System Architecture 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Multi-agent graph: Planner → Researcher → 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Synthesizer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04  </a:t>
            </a:r>
            <a:r>
              <a:rPr sz="2000" b="1" dirty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Pipeline v1 → v2 → v3 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Fixed → Section-aware → Table-aware + Diversity + Aliases + </a:t>
            </a:r>
            <a:r>
              <a:rPr lang="en-US" sz="2000" dirty="0" err="1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IRCoT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05  Evaluation Framework</a:t>
            </a:r>
            <a:r>
              <a:rPr lang="en-US"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RAGAS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· Tool Call Accuracy · HAIC (OOC-aware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)</a:t>
            </a:r>
            <a:endParaRPr sz="2000" dirty="0" smtClean="0">
              <a:solidFill>
                <a:srgbClr val="1E293B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05b </a:t>
            </a:r>
            <a:r>
              <a:rPr sz="2000" b="1" dirty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HAIC Implementation 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LLM-as-judge · Judge Prompts · SQLite cache · 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Metrics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06  Results 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Context Precision, Faithfulness, Tool Accuracy, Judge 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Score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07  Failure Analysis 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5 </a:t>
            </a:r>
            <a:r>
              <a:rPr lang="el-GR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αποτυχίες &amp;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root 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causes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08  Limitations &amp; v3 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6 </a:t>
            </a:r>
            <a:r>
              <a:rPr lang="el-GR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περιορισμοί · 6 βελτιώσεις </a:t>
            </a:r>
            <a:r>
              <a:rPr lang="el-GR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υλοποιημένες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09  Scorecard  </a:t>
            </a:r>
            <a:r>
              <a:rPr lang="el-GR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Συνοπτικό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scorecard 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v1/v2/v3</a:t>
            </a:r>
            <a:endParaRPr lang="en-US" sz="2000" b="1" dirty="0" smtClean="0">
              <a:solidFill>
                <a:srgbClr val="6366F1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10  Demo</a:t>
            </a:r>
            <a:r>
              <a:rPr lang="en-US"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Live screenshots - streaming agent, profile selector, </a:t>
            </a:r>
            <a:r>
              <a:rPr lang="el-GR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κόστος/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query</a:t>
            </a:r>
            <a:endParaRPr sz="2000" dirty="0">
              <a:solidFill>
                <a:srgbClr val="1E293B"/>
              </a:solidFill>
              <a:latin typeface="Bahnschrift SemiLight SemiConde" panose="020B0502040204020203" pitchFamily="34" charset="0"/>
            </a:endParaRPr>
          </a:p>
          <a:p>
            <a:pPr>
              <a:spcBef>
                <a:spcPts val="400"/>
              </a:spcBef>
            </a:pPr>
            <a:r>
              <a:rPr sz="2000" b="1" dirty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11  </a:t>
            </a:r>
            <a:r>
              <a:rPr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Conclusions</a:t>
            </a:r>
            <a:r>
              <a:rPr lang="en-US" sz="2000" b="1" dirty="0" smtClean="0">
                <a:solidFill>
                  <a:srgbClr val="6366F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Key takeaways &amp; next </a:t>
            </a:r>
            <a:r>
              <a:rPr lang="en-US" sz="2000" dirty="0" smtClean="0">
                <a:solidFill>
                  <a:srgbClr val="1E293B"/>
                </a:solidFill>
                <a:latin typeface="Bahnschrift SemiLight SemiConde" panose="020B0502040204020203" pitchFamily="34" charset="0"/>
              </a:rPr>
              <a:t>steps</a:t>
            </a:r>
            <a:endParaRPr lang="en-US" sz="2000" dirty="0">
              <a:solidFill>
                <a:srgbClr val="1E293B"/>
              </a:solidFill>
              <a:latin typeface="Bahnschrift SemiLight SemiConde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Problem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5486400" cy="4104894"/>
          </a:xfrm>
          <a:prstGeom prst="rect">
            <a:avLst/>
          </a:prstGeom>
          <a:solidFill>
            <a:srgbClr val="FE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dirty="0" err="1">
                <a:solidFill>
                  <a:srgbClr val="6366F1"/>
                </a:solidFill>
                <a:latin typeface="Bahnschrift SemiBold" panose="020B0502040204020203" pitchFamily="34" charset="0"/>
              </a:rPr>
              <a:t>Το</a:t>
            </a:r>
            <a:r>
              <a:rPr b="1" i="1" dirty="0">
                <a:solidFill>
                  <a:srgbClr val="6366F1"/>
                </a:solidFill>
                <a:latin typeface="Bahnschrift SemiBold" panose="020B0502040204020203" pitchFamily="34" charset="0"/>
              </a:rPr>
              <a:t> </a:t>
            </a:r>
            <a:r>
              <a:rPr b="1" i="1" dirty="0" err="1">
                <a:solidFill>
                  <a:srgbClr val="6366F1"/>
                </a:solidFill>
                <a:latin typeface="Bahnschrift SemiBold" panose="020B0502040204020203" pitchFamily="34" charset="0"/>
              </a:rPr>
              <a:t>Πρό</a:t>
            </a:r>
            <a:r>
              <a:rPr b="1" i="1" dirty="0">
                <a:solidFill>
                  <a:srgbClr val="6366F1"/>
                </a:solidFill>
                <a:latin typeface="Bahnschrift SemiBold" panose="020B0502040204020203" pitchFamily="34" charset="0"/>
              </a:rPr>
              <a:t>βλημα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31212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Lucida Sans" panose="020B0602030504020204" pitchFamily="34" charset="0"/>
              </a:rPr>
              <a:t>• Dense retrieval αποτυγχάνει σε ακρώνυμα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87244"/>
            <a:ext cx="4846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Bi-encoder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δεν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τα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ιριάζει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'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HyDE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'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με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paper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χωρίς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HyDE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στον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τίτλο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. Semantic similarity απ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οτυγχάνει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σε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coined terms </a:t>
            </a:r>
            <a:r>
              <a:rPr lang="en-US" sz="1050" b="0" dirty="0" smtClean="0">
                <a:solidFill>
                  <a:srgbClr val="1E293B"/>
                </a:solidFill>
                <a:latin typeface="Lucida Sans" panose="020B0602030504020204" pitchFamily="34" charset="0"/>
              </a:rPr>
              <a:t>-</a:t>
            </a:r>
            <a:r>
              <a:rPr sz="1050" b="0" dirty="0" smtClean="0">
                <a:solidFill>
                  <a:srgbClr val="1E293B"/>
                </a:solidFill>
                <a:latin typeface="Lucida Sans" panose="020B0602030504020204" pitchFamily="34" charset="0"/>
              </a:rPr>
              <a:t> 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HAIC Q1 score=1/5.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0444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Lucida Sans" panose="020B0602030504020204" pitchFamily="34" charset="0"/>
              </a:rPr>
              <a:t>• Αριθμητικά δεδομένα σε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6476"/>
            <a:ext cx="4846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Fixed 512-token chunks σπ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άνε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Markdown tables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στη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μέση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. Numbers απ</a:t>
            </a:r>
            <a:r>
              <a:rPr sz="1050" b="0" dirty="0" err="1">
                <a:solidFill>
                  <a:srgbClr val="1E293B"/>
                </a:solidFill>
                <a:latin typeface="Lucida Sans" panose="020B0602030504020204" pitchFamily="34" charset="0"/>
              </a:rPr>
              <a:t>οδεσμεύοντ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αι από τα headers τους </a:t>
            </a:r>
            <a:r>
              <a:rPr lang="en-US" sz="1050" b="0" dirty="0" smtClean="0">
                <a:solidFill>
                  <a:srgbClr val="1E293B"/>
                </a:solidFill>
                <a:latin typeface="Lucida Sans" panose="020B0602030504020204" pitchFamily="34" charset="0"/>
              </a:rPr>
              <a:t>-</a:t>
            </a:r>
            <a:r>
              <a:rPr sz="1050" b="0" dirty="0" smtClean="0">
                <a:solidFill>
                  <a:srgbClr val="1E293B"/>
                </a:solidFill>
                <a:latin typeface="Lucida Sans" panose="020B0602030504020204" pitchFamily="34" charset="0"/>
              </a:rPr>
              <a:t> </a:t>
            </a:r>
            <a:r>
              <a:rPr sz="1050" b="0" dirty="0">
                <a:solidFill>
                  <a:srgbClr val="1E293B"/>
                </a:solidFill>
                <a:latin typeface="Lucida Sans" panose="020B0602030504020204" pitchFamily="34" charset="0"/>
              </a:rPr>
              <a:t>σωστή απάντηση αδύνατη.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6145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Lucida Sans" panose="020B0602030504020204" pitchFamily="34" charset="0"/>
              </a:rPr>
              <a:t>• OOC ερωτήσεις → hallucination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2177"/>
            <a:ext cx="4846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Lucida Sans" panose="020B0602030504020204" pitchFamily="34" charset="0"/>
              </a:rPr>
              <a:t>Agent χωρίς αρνητικό σήμα απαντά από parametric memory. Χωρίς OOC benchmark: hallucinating system μπορεί να πετύχει RAGAS CP=1.0.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6327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DC2626"/>
                </a:solidFill>
                <a:latin typeface="Lucida Sans" panose="020B0602030504020204" pitchFamily="34" charset="0"/>
              </a:rPr>
              <a:t>• Single-hop retrieval </a:t>
            </a:r>
            <a:r>
              <a:rPr sz="1400" b="1" dirty="0" err="1">
                <a:solidFill>
                  <a:srgbClr val="DC2626"/>
                </a:solidFill>
                <a:latin typeface="Lucida Sans" panose="020B0602030504020204" pitchFamily="34" charset="0"/>
              </a:rPr>
              <a:t>μόνο</a:t>
            </a:r>
            <a:endParaRPr sz="1400" b="1" dirty="0">
              <a:solidFill>
                <a:srgbClr val="DC2626"/>
              </a:solidFill>
              <a:latin typeface="Lucida Sans" panose="020B0602030504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552359"/>
            <a:ext cx="4846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Lucida Sans" panose="020B0602030504020204" pitchFamily="34" charset="0"/>
              </a:rPr>
              <a:t>Σύνθετες ερωτήσεις ('Compare X and Y') χρειάζονται 2+ retrieve calls. Με single retrieve: partial context, ατελής απάντηση.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00004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Lucida Sans" panose="020B0602030504020204" pitchFamily="34" charset="0"/>
              </a:rPr>
              <a:t>• No provenance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6036"/>
            <a:ext cx="4846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Lucida Sans" panose="020B0602030504020204" pitchFamily="34" charset="0"/>
              </a:rPr>
              <a:t>Chunks χωρίς authors/year/section metadata. Attribution failures: 'Ποιος έγραψε Self-RAG;' → hallucination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777240"/>
            <a:ext cx="5760720" cy="4146113"/>
          </a:xfrm>
          <a:prstGeom prst="rect">
            <a:avLst/>
          </a:prstGeom>
          <a:solidFill>
            <a:srgbClr val="EFF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2296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dirty="0">
                <a:solidFill>
                  <a:srgbClr val="117936"/>
                </a:solidFill>
                <a:latin typeface="Bahnschrift SemiBold" panose="020B0502040204020203" pitchFamily="34" charset="0"/>
              </a:rPr>
              <a:t>Η </a:t>
            </a:r>
            <a:r>
              <a:rPr b="1" i="1" dirty="0" err="1" smtClean="0">
                <a:solidFill>
                  <a:srgbClr val="117936"/>
                </a:solidFill>
                <a:latin typeface="Bahnschrift SemiBold" panose="020B0502040204020203" pitchFamily="34" charset="0"/>
              </a:rPr>
              <a:t>Προσέγγιση</a:t>
            </a:r>
            <a:endParaRPr b="1" i="1" dirty="0">
              <a:solidFill>
                <a:srgbClr val="117936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0" y="113121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Lucida Sans" panose="020B0602030504020204" pitchFamily="34" charset="0"/>
              </a:rPr>
              <a:t>• Alias metadata στο Qdrant 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387244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Lucida Sans" panose="020B0602030504020204" pitchFamily="34" charset="0"/>
              </a:rPr>
              <a:t>PAPER_ALIASES dict: 10 papers → nicknames (HyDE, Self-RAG, ReAct…). Aliases αποθηκεύονται ως Qdrant payload field. Query 'HyDE' → alias match.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5044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Lucida Sans" panose="020B0602030504020204" pitchFamily="34" charset="0"/>
              </a:rPr>
              <a:t>• Table-aware Chunker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06476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Lucida Sans" panose="020B0602030504020204" pitchFamily="34" charset="0"/>
              </a:rPr>
              <a:t>Splits μόνο σε row boundaries (γραμμές που αρχίζουν με |). Tables ακέραιες σε κάθε chunk. Numerical faithfulness v2→v3 βελτιώνεται.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76145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Lucida Sans" panose="020B0602030504020204" pitchFamily="34" charset="0"/>
              </a:rPr>
              <a:t>• 59 OOC ερωτήσεις + OOC judge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32177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Lucida Sans" panose="020B0602030504020204" pitchFamily="34" charset="0"/>
              </a:rPr>
              <a:t>Golden set: 59/84 OOC (stock prices, sports, geography). HAIC OOC judge: score=5 για σωστή άρνηση. v3 OOC accept rate=86.4%.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96327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Lucida Sans" panose="020B0602030504020204" pitchFamily="34" charset="0"/>
              </a:rPr>
              <a:t>• IRCoT sub-queries + Multi-agent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52359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Lucida Sans" panose="020B0602030504020204" pitchFamily="34" charset="0"/>
              </a:rPr>
              <a:t>Planner παράγει SearchPlan με sub_queries[]. Researcher: rag_retrieve ανά sub-query → dedup → distill. Multi-hop queries αντιμετωπίζονται.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00000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Lucida Sans" panose="020B0602030504020204" pitchFamily="34" charset="0"/>
              </a:rPr>
              <a:t>• Provenance metadata σε κάθε chunk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56036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Lucida Sans" panose="020B0602030504020204" pitchFamily="34" charset="0"/>
              </a:rPr>
              <a:t>paper_id, title, authors, year, section_type σε Qdrant payload. Synthesizer χρησιμοποιεί citations. Attribution TCA v3=1.0.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5225105"/>
            <a:ext cx="11548872" cy="1188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5244917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l-GR" sz="1200" b="1" dirty="0" smtClean="0">
                <a:solidFill>
                  <a:srgbClr val="6366F1"/>
                </a:solidFill>
              </a:rPr>
              <a:t>Αντιμετώπιση Προβλημάτων</a:t>
            </a:r>
            <a:endParaRPr sz="1200" b="1" dirty="0">
              <a:solidFill>
                <a:srgbClr val="6366F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6344" y="5572577"/>
            <a:ext cx="171602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5615303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>
                <a:latin typeface="Bahnschrift SemiBold" panose="020B0502040204020203" pitchFamily="34" charset="0"/>
              </a:rPr>
              <a:t>Acronym miss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843903"/>
            <a:ext cx="1572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B050"/>
                </a:solidFill>
              </a:rPr>
              <a:t>→ Alias 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98064" y="5572577"/>
            <a:ext cx="171602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34640" y="5615303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latin typeface="Bahnschrift SemiBold" panose="020B0502040204020203" pitchFamily="34" charset="0"/>
              </a:rPr>
              <a:t>Table break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843903"/>
            <a:ext cx="1572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50"/>
                </a:solidFill>
              </a:rPr>
              <a:t>→ Table-aware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9784" y="5572577"/>
            <a:ext cx="171602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66360" y="5615303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latin typeface="Bahnschrift SemiBold" panose="020B0502040204020203" pitchFamily="34" charset="0"/>
              </a:rPr>
              <a:t>OOC hallucination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5843903"/>
            <a:ext cx="1572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50"/>
                </a:solidFill>
              </a:rPr>
              <a:t>→ 86.4% refusal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61504" y="5572577"/>
            <a:ext cx="171602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0" y="5615303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latin typeface="Bahnschrift SemiBold" panose="020B0502040204020203" pitchFamily="34" charset="0"/>
              </a:rPr>
              <a:t>Single-hop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5843903"/>
            <a:ext cx="1572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50"/>
                </a:solidFill>
              </a:rPr>
              <a:t>→ IRCoT 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93224" y="5572577"/>
            <a:ext cx="171602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29800" y="5615303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latin typeface="Bahnschrift SemiBold" panose="020B0502040204020203" pitchFamily="34" charset="0"/>
              </a:rPr>
              <a:t>Attribution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5843903"/>
            <a:ext cx="1572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50"/>
                </a:solidFill>
              </a:rPr>
              <a:t>→ TCA=1.0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Corpus &amp; Δεδομένα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52981" y="1269801"/>
            <a:ext cx="1288807" cy="929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581" y="1205793"/>
            <a:ext cx="14580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accent5">
                    <a:lumMod val="50000"/>
                  </a:schemeClr>
                </a:solidFill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581" y="1681281"/>
            <a:ext cx="14580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</a:rPr>
              <a:t>ArXiv Papers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581" y="1909881"/>
            <a:ext cx="14580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NLP/LLM/RAG/Agents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31723" y="2434302"/>
            <a:ext cx="1326901" cy="929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992" y="2402704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accent5">
                    <a:lumMod val="50000"/>
                  </a:schemeClr>
                </a:solidFill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9323" y="2845782"/>
            <a:ext cx="15011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</a:rPr>
              <a:t>Golden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9323" y="3074382"/>
            <a:ext cx="15011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6 κατηγορίες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5013" y="2447911"/>
            <a:ext cx="1326901" cy="9160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22552" y="2397619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accent5">
                    <a:lumMod val="50000"/>
                  </a:schemeClr>
                </a:solidFill>
              </a:rPr>
              <a:t>~1250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2613" y="2859391"/>
            <a:ext cx="15011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</a:rPr>
              <a:t>Chunks (v2)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2613" y="3087991"/>
            <a:ext cx="15011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section-aware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94188" y="1264246"/>
            <a:ext cx="2263140" cy="95141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41788" y="1230665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 smtClean="0">
                <a:solidFill>
                  <a:schemeClr val="accent5">
                    <a:lumMod val="50000"/>
                  </a:schemeClr>
                </a:solidFill>
              </a:rPr>
              <a:t>2020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-</a:t>
            </a:r>
            <a:r>
              <a:rPr sz="2800" b="1" dirty="0" smtClean="0">
                <a:solidFill>
                  <a:schemeClr val="accent5">
                    <a:lumMod val="50000"/>
                  </a:schemeClr>
                </a:solidFill>
              </a:rPr>
              <a:t>2026</a:t>
            </a:r>
            <a:endParaRPr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41788" y="170615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</a:rPr>
              <a:t>Χρονικό Εύρος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1788" y="1934753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2020 RAG → 2026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305458"/>
              </p:ext>
            </p:extLst>
          </p:nvPr>
        </p:nvGraphicFramePr>
        <p:xfrm>
          <a:off x="5158877" y="995294"/>
          <a:ext cx="5639595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Κα</a:t>
                      </a:r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τηγορί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α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Αν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αμ. </a:t>
                      </a:r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Εργ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αλείο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Πα</a:t>
                      </a:r>
                      <a:r>
                        <a:rPr sz="1200" b="1" dirty="0" err="1">
                          <a:solidFill>
                            <a:schemeClr val="tx1"/>
                          </a:solidFill>
                        </a:rPr>
                        <a:t>ράδειγμ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</a:rPr>
                        <a:t>α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Ορισμικές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 (definitional)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rag_retrieve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Τι είναι το HyDE;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Συγκριτικές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 (comparative)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rag_retrieve</a:t>
                      </a:r>
                      <a:endParaRPr sz="1100" b="0" dirty="0">
                        <a:solidFill>
                          <a:srgbClr val="1E293B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Self-RAG vs RAG;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Μεθοδολογικές (methodological)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rag_retrieve</a:t>
                      </a:r>
                      <a:endParaRPr sz="1100" b="0" dirty="0">
                        <a:solidFill>
                          <a:srgbClr val="1E293B"/>
                        </a:solidFill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Βήμ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ατα ReAct loop;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Απόδοσης (attribution)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rag_retrieve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Ποιος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έγρ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αψε Self-RAG;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Αριθμητικές (numerical)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rag_retrieve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Πόσ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α passages DPR;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Εκτός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Πλ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αισίου (OOC)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rag+arxiv→refuse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Τιμή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μετοχής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 NVDA;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498" y="4197147"/>
            <a:ext cx="12188952" cy="76885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739" y="4217682"/>
            <a:ext cx="112684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Στρ</a:t>
            </a:r>
            <a:r>
              <a:rPr sz="11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ατηγική Επιλογής Corpus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8" y="4513338"/>
            <a:ext cx="1218882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1E293B"/>
                </a:solidFill>
              </a:rPr>
              <a:t>10 Seed IDs: </a:t>
            </a:r>
            <a:r>
              <a:rPr sz="950" b="0" dirty="0" err="1">
                <a:solidFill>
                  <a:srgbClr val="1E293B"/>
                </a:solidFill>
              </a:rPr>
              <a:t>θεμελιώδη</a:t>
            </a:r>
            <a:r>
              <a:rPr sz="950" b="0" dirty="0">
                <a:solidFill>
                  <a:srgbClr val="1E293B"/>
                </a:solidFill>
              </a:rPr>
              <a:t> papers (RAG, DPR, </a:t>
            </a:r>
            <a:r>
              <a:rPr sz="950" b="0" dirty="0" err="1">
                <a:solidFill>
                  <a:srgbClr val="1E293B"/>
                </a:solidFill>
              </a:rPr>
              <a:t>HyDE</a:t>
            </a:r>
            <a:r>
              <a:rPr sz="950" b="0" dirty="0">
                <a:solidFill>
                  <a:srgbClr val="1E293B"/>
                </a:solidFill>
              </a:rPr>
              <a:t>, Self-RAG, </a:t>
            </a:r>
            <a:r>
              <a:rPr sz="950" b="0" dirty="0" err="1">
                <a:solidFill>
                  <a:srgbClr val="1E293B"/>
                </a:solidFill>
              </a:rPr>
              <a:t>ReAct</a:t>
            </a:r>
            <a:r>
              <a:rPr sz="950" b="0" dirty="0">
                <a:solidFill>
                  <a:srgbClr val="1E293B"/>
                </a:solidFill>
              </a:rPr>
              <a:t>, </a:t>
            </a:r>
            <a:r>
              <a:rPr sz="950" b="0" dirty="0" err="1">
                <a:solidFill>
                  <a:srgbClr val="1E293B"/>
                </a:solidFill>
              </a:rPr>
              <a:t>LangGraph</a:t>
            </a:r>
            <a:r>
              <a:rPr sz="950" b="0" dirty="0">
                <a:solidFill>
                  <a:srgbClr val="1E293B"/>
                </a:solidFill>
              </a:rPr>
              <a:t>, BGE, RAGAS…). </a:t>
            </a:r>
            <a:r>
              <a:rPr sz="950" b="0" dirty="0" err="1">
                <a:solidFill>
                  <a:srgbClr val="1E293B"/>
                </a:solidFill>
              </a:rPr>
              <a:t>Εξ</a:t>
            </a:r>
            <a:r>
              <a:rPr sz="950" b="0" dirty="0">
                <a:solidFill>
                  <a:srgbClr val="1E293B"/>
                </a:solidFill>
              </a:rPr>
              <a:t>ασφαλίζουν κάλυψη βασικών μεθόδων.
5 Query searches (sort=Relevance): 'RAG evaluation', 'agentic retrieval', 'multi-hop QA', 'LLM faithfulness', 'chunking strategies'. </a:t>
            </a:r>
            <a:r>
              <a:rPr sz="950" b="0" dirty="0" err="1">
                <a:solidFill>
                  <a:srgbClr val="1E293B"/>
                </a:solidFill>
              </a:rPr>
              <a:t>Φέρνουν</a:t>
            </a:r>
            <a:r>
              <a:rPr sz="950" b="0" dirty="0">
                <a:solidFill>
                  <a:srgbClr val="1E293B"/>
                </a:solidFill>
              </a:rPr>
              <a:t> recent papers (2024-2026) α</a:t>
            </a:r>
            <a:r>
              <a:rPr sz="950" b="0" dirty="0" err="1">
                <a:solidFill>
                  <a:srgbClr val="1E293B"/>
                </a:solidFill>
              </a:rPr>
              <a:t>νά</a:t>
            </a:r>
            <a:r>
              <a:rPr sz="950" b="0" dirty="0">
                <a:solidFill>
                  <a:srgbClr val="1E293B"/>
                </a:solidFill>
              </a:rPr>
              <a:t> topic cluster. 150+ candidates → 50 selected (</a:t>
            </a:r>
            <a:r>
              <a:rPr sz="950" b="0" dirty="0" err="1">
                <a:solidFill>
                  <a:srgbClr val="1E293B"/>
                </a:solidFill>
              </a:rPr>
              <a:t>dedup</a:t>
            </a:r>
            <a:r>
              <a:rPr sz="950" b="0" dirty="0">
                <a:solidFill>
                  <a:srgbClr val="1E293B"/>
                </a:solidFill>
              </a:rPr>
              <a:t> + relevance filter).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8408" y="5225958"/>
            <a:ext cx="10462371" cy="93564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2613" y="5283559"/>
            <a:ext cx="99641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Corpus Coverage &amp;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395" y="5545998"/>
            <a:ext cx="10462261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1E293B"/>
                </a:solidFill>
              </a:rPr>
              <a:t>Topics: RAG/Retrieval (20), Agents/Tools (12), </a:t>
            </a:r>
            <a:r>
              <a:rPr sz="950" b="0" dirty="0" err="1">
                <a:solidFill>
                  <a:srgbClr val="1E293B"/>
                </a:solidFill>
              </a:rPr>
              <a:t>Embeddings</a:t>
            </a:r>
            <a:r>
              <a:rPr sz="950" b="0" dirty="0">
                <a:solidFill>
                  <a:srgbClr val="1E293B"/>
                </a:solidFill>
              </a:rPr>
              <a:t> (8), Evaluation methods (7), Multi-agent (8), Other NLP (5).
Format pipeline: </a:t>
            </a:r>
            <a:r>
              <a:rPr sz="950" b="0" dirty="0" err="1">
                <a:solidFill>
                  <a:srgbClr val="1E293B"/>
                </a:solidFill>
              </a:rPr>
              <a:t>ArXiv</a:t>
            </a:r>
            <a:r>
              <a:rPr sz="950" b="0" dirty="0">
                <a:solidFill>
                  <a:srgbClr val="1E293B"/>
                </a:solidFill>
              </a:rPr>
              <a:t> PDF → pymupdf4llm → section-aware Markdown → </a:t>
            </a:r>
            <a:r>
              <a:rPr sz="950" b="0" dirty="0" err="1">
                <a:solidFill>
                  <a:srgbClr val="1E293B"/>
                </a:solidFill>
              </a:rPr>
              <a:t>Chunker</a:t>
            </a:r>
            <a:r>
              <a:rPr sz="950" b="0" dirty="0">
                <a:solidFill>
                  <a:srgbClr val="1E293B"/>
                </a:solidFill>
              </a:rPr>
              <a:t> v1/v2/v3 → </a:t>
            </a:r>
            <a:r>
              <a:rPr sz="950" b="0" dirty="0" err="1">
                <a:solidFill>
                  <a:srgbClr val="1E293B"/>
                </a:solidFill>
              </a:rPr>
              <a:t>embeddings</a:t>
            </a:r>
            <a:r>
              <a:rPr sz="950" b="0" dirty="0">
                <a:solidFill>
                  <a:srgbClr val="1E293B"/>
                </a:solidFill>
              </a:rPr>
              <a:t> (text-embedding-3-small, SQLite cached) → </a:t>
            </a:r>
            <a:r>
              <a:rPr sz="950" b="0" dirty="0" err="1">
                <a:solidFill>
                  <a:srgbClr val="1E293B"/>
                </a:solidFill>
              </a:rPr>
              <a:t>Qdrant</a:t>
            </a:r>
            <a:r>
              <a:rPr sz="950" b="0" dirty="0">
                <a:solidFill>
                  <a:srgbClr val="1E293B"/>
                </a:solidFill>
              </a:rPr>
              <a:t> collections papers_v1 / papers_v2 / papers_v3.
</a:t>
            </a:r>
            <a:r>
              <a:rPr sz="950" b="0" dirty="0" err="1">
                <a:solidFill>
                  <a:srgbClr val="1E293B"/>
                </a:solidFill>
              </a:rPr>
              <a:t>Γλώσσ</a:t>
            </a:r>
            <a:r>
              <a:rPr sz="950" b="0" dirty="0">
                <a:solidFill>
                  <a:srgbClr val="1E293B"/>
                </a:solidFill>
              </a:rPr>
              <a:t>α: αγγλόφωνα ArXiv papers (περιορισμός </a:t>
            </a:r>
            <a:r>
              <a:rPr lang="en-US" sz="950" b="0" dirty="0" smtClean="0">
                <a:solidFill>
                  <a:srgbClr val="1E293B"/>
                </a:solidFill>
              </a:rPr>
              <a:t>-</a:t>
            </a:r>
            <a:r>
              <a:rPr sz="950" b="0" dirty="0" smtClean="0">
                <a:solidFill>
                  <a:srgbClr val="1E293B"/>
                </a:solidFill>
              </a:rPr>
              <a:t> </a:t>
            </a:r>
            <a:r>
              <a:rPr sz="950" b="0" dirty="0">
                <a:solidFill>
                  <a:srgbClr val="1E293B"/>
                </a:solidFill>
              </a:rPr>
              <a:t>βλ. Limitations).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77" y="6396953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4748B"/>
                </a:solidFill>
              </a:rPr>
              <a:t>Στρ</a:t>
            </a:r>
            <a:r>
              <a:rPr sz="1000" b="0" dirty="0">
                <a:solidFill>
                  <a:srgbClr val="64748B"/>
                </a:solidFill>
              </a:rPr>
              <a:t>ατηγική: 10 Seed IDs (θεμελιώδη papers) + 5 query-based ArXiv searches (sort=Relevance)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E293B"/>
                </a:solidFill>
              </a:rPr>
              <a:t>Golden Set </a:t>
            </a:r>
            <a:r>
              <a:rPr lang="en-US" sz="2200" b="1" dirty="0" smtClean="0">
                <a:solidFill>
                  <a:srgbClr val="1E293B"/>
                </a:solidFill>
              </a:rPr>
              <a:t>-</a:t>
            </a:r>
            <a:r>
              <a:rPr sz="2200" b="1" dirty="0" smtClean="0">
                <a:solidFill>
                  <a:srgbClr val="1E293B"/>
                </a:solidFill>
              </a:rPr>
              <a:t> </a:t>
            </a:r>
            <a:r>
              <a:rPr sz="2200" b="1" dirty="0">
                <a:solidFill>
                  <a:srgbClr val="1E293B"/>
                </a:solidFill>
              </a:rPr>
              <a:t>Κατα</a:t>
            </a:r>
            <a:r>
              <a:rPr sz="2200" b="1" dirty="0" err="1">
                <a:solidFill>
                  <a:srgbClr val="1E293B"/>
                </a:solidFill>
              </a:rPr>
              <a:t>σκευή</a:t>
            </a:r>
            <a:r>
              <a:rPr sz="2200" b="1" dirty="0">
                <a:solidFill>
                  <a:srgbClr val="1E293B"/>
                </a:solidFill>
              </a:rPr>
              <a:t> &amp; </a:t>
            </a:r>
            <a:r>
              <a:rPr sz="2200" b="1" dirty="0" err="1">
                <a:solidFill>
                  <a:srgbClr val="1E293B"/>
                </a:solidFill>
              </a:rPr>
              <a:t>Αξιο</a:t>
            </a:r>
            <a:r>
              <a:rPr sz="2200" b="1" dirty="0">
                <a:solidFill>
                  <a:srgbClr val="1E293B"/>
                </a:solidFill>
              </a:rPr>
              <a:t>ποίηση στην Αξιολόγηση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5577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6366F1"/>
                </a:solidFill>
              </a:rPr>
              <a:t>3-Στάδια Κατα</a:t>
            </a:r>
            <a:r>
              <a:rPr sz="1600" b="1" dirty="0" err="1">
                <a:solidFill>
                  <a:srgbClr val="6366F1"/>
                </a:solidFill>
              </a:rPr>
              <a:t>σκευής</a:t>
            </a:r>
            <a:endParaRPr sz="1600" b="1" dirty="0">
              <a:solidFill>
                <a:srgbClr val="6366F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577840" cy="146304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20040" y="1197864"/>
            <a:ext cx="534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3B82F6"/>
                </a:solidFill>
              </a:rPr>
              <a:t>Στάδιο</a:t>
            </a:r>
            <a:r>
              <a:rPr sz="1600" b="1" dirty="0">
                <a:solidFill>
                  <a:srgbClr val="3B82F6"/>
                </a:solidFill>
              </a:rPr>
              <a:t> 1 </a:t>
            </a:r>
            <a:r>
              <a:rPr lang="en-US" sz="1600" b="1" dirty="0" smtClean="0">
                <a:solidFill>
                  <a:srgbClr val="3B82F6"/>
                </a:solidFill>
              </a:rPr>
              <a:t>-</a:t>
            </a:r>
            <a:r>
              <a:rPr sz="1600" b="1" dirty="0" smtClean="0">
                <a:solidFill>
                  <a:srgbClr val="3B82F6"/>
                </a:solidFill>
              </a:rPr>
              <a:t> </a:t>
            </a:r>
            <a:r>
              <a:rPr sz="1600" b="1" dirty="0">
                <a:solidFill>
                  <a:srgbClr val="3B82F6"/>
                </a:solidFill>
              </a:rPr>
              <a:t>Seed Candidates (LLM-generated)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80340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E293B"/>
                </a:solidFill>
              </a:rPr>
              <a:t>gpt-4.1-mini (temp=0.7) πα</a:t>
            </a:r>
            <a:r>
              <a:rPr sz="1400" b="0" dirty="0" err="1">
                <a:solidFill>
                  <a:srgbClr val="1E293B"/>
                </a:solidFill>
              </a:rPr>
              <a:t>ράγει</a:t>
            </a:r>
            <a:r>
              <a:rPr sz="1400" b="0" dirty="0">
                <a:solidFill>
                  <a:srgbClr val="1E293B"/>
                </a:solidFill>
              </a:rPr>
              <a:t> 5 </a:t>
            </a:r>
            <a:r>
              <a:rPr sz="1400" b="0" dirty="0" err="1">
                <a:solidFill>
                  <a:srgbClr val="1E293B"/>
                </a:solidFill>
              </a:rPr>
              <a:t>ερωτήσεις</a:t>
            </a:r>
            <a:r>
              <a:rPr sz="1400" b="0" dirty="0">
                <a:solidFill>
                  <a:srgbClr val="1E293B"/>
                </a:solidFill>
              </a:rPr>
              <a:t> α</a:t>
            </a:r>
            <a:r>
              <a:rPr sz="1400" b="0" dirty="0" err="1">
                <a:solidFill>
                  <a:srgbClr val="1E293B"/>
                </a:solidFill>
              </a:rPr>
              <a:t>νά</a:t>
            </a:r>
            <a:r>
              <a:rPr sz="1400" b="0" dirty="0">
                <a:solidFill>
                  <a:srgbClr val="1E293B"/>
                </a:solidFill>
              </a:rPr>
              <a:t> paper από abstract.
50 papers × 5 = 250 candidates. Format: question, category,
</a:t>
            </a:r>
            <a:r>
              <a:rPr sz="1400" b="0" dirty="0" err="1">
                <a:solidFill>
                  <a:srgbClr val="1E293B"/>
                </a:solidFill>
              </a:rPr>
              <a:t>expected_answer</a:t>
            </a:r>
            <a:r>
              <a:rPr sz="1400" b="0" dirty="0">
                <a:solidFill>
                  <a:srgbClr val="1E293B"/>
                </a:solidFill>
              </a:rPr>
              <a:t>, </a:t>
            </a:r>
            <a:r>
              <a:rPr sz="1400" b="0" dirty="0" err="1">
                <a:solidFill>
                  <a:srgbClr val="1E293B"/>
                </a:solidFill>
              </a:rPr>
              <a:t>expected_tools</a:t>
            </a:r>
            <a:r>
              <a:rPr sz="1400" b="0" dirty="0">
                <a:solidFill>
                  <a:srgbClr val="1E293B"/>
                </a:solidFill>
              </a:rPr>
              <a:t>, </a:t>
            </a:r>
            <a:r>
              <a:rPr sz="1400" b="0" dirty="0" err="1">
                <a:solidFill>
                  <a:srgbClr val="1E293B"/>
                </a:solidFill>
              </a:rPr>
              <a:t>paper_id</a:t>
            </a:r>
            <a:r>
              <a:rPr sz="1400" b="0" dirty="0">
                <a:solidFill>
                  <a:srgbClr val="1E293B"/>
                </a:solidFill>
              </a:rPr>
              <a:t>, difficulty.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43200"/>
            <a:ext cx="5577840" cy="146304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20040" y="2770632"/>
            <a:ext cx="534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EA580C"/>
                </a:solidFill>
              </a:rPr>
              <a:t>Στάδιο</a:t>
            </a:r>
            <a:r>
              <a:rPr sz="1600" b="1" dirty="0">
                <a:solidFill>
                  <a:srgbClr val="EA580C"/>
                </a:solidFill>
              </a:rPr>
              <a:t> 2 </a:t>
            </a:r>
            <a:r>
              <a:rPr lang="en-US" sz="1600" b="1" dirty="0" smtClean="0">
                <a:solidFill>
                  <a:srgbClr val="EA580C"/>
                </a:solidFill>
              </a:rPr>
              <a:t>-</a:t>
            </a:r>
            <a:r>
              <a:rPr sz="1600" b="1" dirty="0" smtClean="0">
                <a:solidFill>
                  <a:srgbClr val="EA580C"/>
                </a:solidFill>
              </a:rPr>
              <a:t> </a:t>
            </a:r>
            <a:r>
              <a:rPr sz="1600" b="1" dirty="0">
                <a:solidFill>
                  <a:srgbClr val="EA580C"/>
                </a:solidFill>
              </a:rPr>
              <a:t>Manual Curation (In-Context, n=25)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36392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Χειροκίνητος φιλτρισμός: αφαίρεση duplicates, trivia &amp; unanswerable.
25 in-context: 5 definitional · 4 comparative · 4 methodological
4 attribution · 4 numerical · 4 edge-case. Δυσκολία: easy/medium/hard.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15968"/>
            <a:ext cx="5577840" cy="146304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20040" y="4343400"/>
            <a:ext cx="534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16A34A"/>
                </a:solidFill>
              </a:rPr>
              <a:t>Στάδιο</a:t>
            </a:r>
            <a:r>
              <a:rPr sz="1600" b="1" dirty="0">
                <a:solidFill>
                  <a:srgbClr val="16A34A"/>
                </a:solidFill>
              </a:rPr>
              <a:t> 3 </a:t>
            </a:r>
            <a:r>
              <a:rPr lang="en-US" sz="1600" b="1" dirty="0" smtClean="0">
                <a:solidFill>
                  <a:srgbClr val="16A34A"/>
                </a:solidFill>
              </a:rPr>
              <a:t>-</a:t>
            </a:r>
            <a:r>
              <a:rPr sz="1600" b="1" dirty="0" smtClean="0">
                <a:solidFill>
                  <a:srgbClr val="16A34A"/>
                </a:solidFill>
              </a:rPr>
              <a:t> </a:t>
            </a:r>
            <a:r>
              <a:rPr sz="1600" b="1" dirty="0">
                <a:solidFill>
                  <a:srgbClr val="16A34A"/>
                </a:solidFill>
              </a:rPr>
              <a:t>OOC Augmentation (Out-of-Context, n=59)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E293B"/>
                </a:solidFill>
              </a:rPr>
              <a:t>59 </a:t>
            </a:r>
            <a:r>
              <a:rPr sz="1400" b="0" dirty="0" err="1">
                <a:solidFill>
                  <a:srgbClr val="1E293B"/>
                </a:solidFill>
              </a:rPr>
              <a:t>ερωτήσεις</a:t>
            </a:r>
            <a:r>
              <a:rPr sz="1400" b="0" dirty="0">
                <a:solidFill>
                  <a:srgbClr val="1E293B"/>
                </a:solidFill>
              </a:rPr>
              <a:t> </a:t>
            </a:r>
            <a:r>
              <a:rPr sz="1400" b="0" dirty="0" err="1">
                <a:solidFill>
                  <a:srgbClr val="1E293B"/>
                </a:solidFill>
              </a:rPr>
              <a:t>εκτός</a:t>
            </a:r>
            <a:r>
              <a:rPr sz="1400" b="0" dirty="0">
                <a:solidFill>
                  <a:srgbClr val="1E293B"/>
                </a:solidFill>
              </a:rPr>
              <a:t> corpus: stock prices, sports events, geography.
</a:t>
            </a:r>
            <a:r>
              <a:rPr sz="1400" b="0" dirty="0" err="1">
                <a:solidFill>
                  <a:srgbClr val="1E293B"/>
                </a:solidFill>
              </a:rPr>
              <a:t>expected_tools</a:t>
            </a:r>
            <a:r>
              <a:rPr sz="1400" b="0" dirty="0">
                <a:solidFill>
                  <a:srgbClr val="1E293B"/>
                </a:solidFill>
              </a:rPr>
              <a:t>=['refuse'] </a:t>
            </a:r>
            <a:r>
              <a:rPr lang="en-US" sz="1400" b="0" dirty="0" smtClean="0">
                <a:solidFill>
                  <a:srgbClr val="1E293B"/>
                </a:solidFill>
              </a:rPr>
              <a:t>-</a:t>
            </a:r>
            <a:r>
              <a:rPr sz="1400" b="0" dirty="0" smtClean="0">
                <a:solidFill>
                  <a:srgbClr val="1E293B"/>
                </a:solidFill>
              </a:rPr>
              <a:t> </a:t>
            </a:r>
            <a:r>
              <a:rPr sz="1400" b="0" dirty="0">
                <a:solidFill>
                  <a:srgbClr val="1E293B"/>
                </a:solidFill>
              </a:rPr>
              <a:t>agent π</a:t>
            </a:r>
            <a:r>
              <a:rPr sz="1400" b="0" dirty="0" err="1">
                <a:solidFill>
                  <a:srgbClr val="1E293B"/>
                </a:solidFill>
              </a:rPr>
              <a:t>ρέ</a:t>
            </a:r>
            <a:r>
              <a:rPr sz="1400" b="0" dirty="0">
                <a:solidFill>
                  <a:srgbClr val="1E293B"/>
                </a:solidFill>
              </a:rPr>
              <a:t>πει να αρνηθεί αποκλειστικά
χωρίς retrieval. HAIC OOC judge: score=5 </a:t>
            </a:r>
            <a:r>
              <a:rPr sz="1400" b="0" dirty="0" err="1">
                <a:solidFill>
                  <a:srgbClr val="1E293B"/>
                </a:solidFill>
              </a:rPr>
              <a:t>γι</a:t>
            </a:r>
            <a:r>
              <a:rPr sz="1400" b="0" dirty="0">
                <a:solidFill>
                  <a:srgbClr val="1E293B"/>
                </a:solidFill>
              </a:rPr>
              <a:t>α σωστή άρνηση.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777240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 dirty="0" err="1">
                <a:solidFill>
                  <a:srgbClr val="6366F1"/>
                </a:solidFill>
              </a:rPr>
              <a:t>Πώς</a:t>
            </a:r>
            <a:r>
              <a:rPr sz="1600" b="1" i="1" dirty="0">
                <a:solidFill>
                  <a:srgbClr val="6366F1"/>
                </a:solidFill>
              </a:rPr>
              <a:t> </a:t>
            </a:r>
            <a:r>
              <a:rPr sz="1600" b="1" i="1" dirty="0" err="1">
                <a:solidFill>
                  <a:srgbClr val="6366F1"/>
                </a:solidFill>
              </a:rPr>
              <a:t>Αξιο</a:t>
            </a:r>
            <a:r>
              <a:rPr sz="1600" b="1" i="1" dirty="0">
                <a:solidFill>
                  <a:srgbClr val="6366F1"/>
                </a:solidFill>
              </a:rPr>
              <a:t>ποιείται στην Αξιολόγηση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262229"/>
            <a:ext cx="5669280" cy="30826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6126480" y="1280517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Κάθε ερώτηση του Golden Set (×84)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012037"/>
            <a:ext cx="4114800" cy="33909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858000" y="2030325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PaperPilot Agent  →  answer + tool_calls +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743200"/>
            <a:ext cx="1810512" cy="1828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2743200"/>
            <a:ext cx="1810512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6126480" y="2752344"/>
            <a:ext cx="1810512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200" b="1" dirty="0"/>
              <a:t>RAGAS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063240"/>
            <a:ext cx="17190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Εισόδος:
expected_answer
+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655144"/>
            <a:ext cx="17190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Έξοδος: CP · CR · F · 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931920"/>
            <a:ext cx="1719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↑ uses golden
field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28432" y="2743200"/>
            <a:ext cx="1810512" cy="1828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28432" y="2743200"/>
            <a:ext cx="1810512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8028432" y="2752344"/>
            <a:ext cx="1810512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/>
              <a:t>TCA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3063240"/>
            <a:ext cx="17190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Εισόδος:
expected_tools
+ actual_tool_calls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3655144"/>
            <a:ext cx="171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</a:rPr>
              <a:t>Έξοδος: accuracy (0 / 0.5 / 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3931920"/>
            <a:ext cx="1719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↑ uses golden
field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30384" y="2743200"/>
            <a:ext cx="1810512" cy="1828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30384" y="2743200"/>
            <a:ext cx="1810512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9930384" y="2752344"/>
            <a:ext cx="1810512" cy="27699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200" b="1"/>
              <a:t>HAIC Judge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6104" y="3063240"/>
            <a:ext cx="17190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Εισόδος:
question + answer
+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4" y="3655144"/>
            <a:ext cx="17190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Έξοδος: score 1–5 · accept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6104" y="3931920"/>
            <a:ext cx="1719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↑ uses golden
field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919472"/>
            <a:ext cx="502920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6" name="TextBox 45"/>
          <p:cNvSpPr txBox="1"/>
          <p:nvPr/>
        </p:nvSpPr>
        <p:spPr>
          <a:xfrm>
            <a:off x="6400800" y="493776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</a:rPr>
              <a:t>ragas_v*.json  ·  tool_call_acc_v*.json  ·  haic_v*.json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5394960"/>
            <a:ext cx="5669280" cy="8229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5422392"/>
            <a:ext cx="5394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 dirty="0" err="1">
                <a:solidFill>
                  <a:schemeClr val="accent1">
                    <a:lumMod val="75000"/>
                  </a:schemeClr>
                </a:solidFill>
              </a:rPr>
              <a:t>Γι</a:t>
            </a:r>
            <a:r>
              <a:rPr sz="1000" b="1" i="1" dirty="0">
                <a:solidFill>
                  <a:schemeClr val="accent1">
                    <a:lumMod val="75000"/>
                  </a:schemeClr>
                </a:solidFill>
              </a:rPr>
              <a:t>ατί χρειαζόμαστε 59 OOC ερωτήσεις;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63056" y="5687568"/>
            <a:ext cx="5532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1E293B"/>
                </a:solidFill>
              </a:rPr>
              <a:t>Χωρίς</a:t>
            </a:r>
            <a:r>
              <a:rPr sz="1000" b="0" dirty="0">
                <a:solidFill>
                  <a:srgbClr val="1E293B"/>
                </a:solidFill>
              </a:rPr>
              <a:t> OOC, </a:t>
            </a:r>
            <a:r>
              <a:rPr sz="1000" b="0" dirty="0" err="1">
                <a:solidFill>
                  <a:srgbClr val="1E293B"/>
                </a:solidFill>
              </a:rPr>
              <a:t>έν</a:t>
            </a:r>
            <a:r>
              <a:rPr sz="1000" b="0" dirty="0">
                <a:solidFill>
                  <a:srgbClr val="1E293B"/>
                </a:solidFill>
              </a:rPr>
              <a:t>α hallucinating σύστημα μπορεί να πετύχει RAGAS CP=1.0 απαντώντας από parametric memory. Ο OOC set α</a:t>
            </a:r>
            <a:r>
              <a:rPr sz="1000" b="0" dirty="0" err="1">
                <a:solidFill>
                  <a:srgbClr val="1E293B"/>
                </a:solidFill>
              </a:rPr>
              <a:t>ξιολογεί</a:t>
            </a:r>
            <a:r>
              <a:rPr sz="1000" b="0" dirty="0">
                <a:solidFill>
                  <a:srgbClr val="1E293B"/>
                </a:solidFill>
              </a:rPr>
              <a:t> α</a:t>
            </a:r>
            <a:r>
              <a:rPr sz="1000" b="0" dirty="0" err="1">
                <a:solidFill>
                  <a:srgbClr val="1E293B"/>
                </a:solidFill>
              </a:rPr>
              <a:t>γεντική</a:t>
            </a:r>
            <a:r>
              <a:rPr sz="1000" b="0" dirty="0">
                <a:solidFill>
                  <a:srgbClr val="1E293B"/>
                </a:solidFill>
              </a:rPr>
              <a:t> α</a:t>
            </a:r>
            <a:r>
              <a:rPr sz="1000" b="0" dirty="0" err="1">
                <a:solidFill>
                  <a:srgbClr val="1E293B"/>
                </a:solidFill>
              </a:rPr>
              <a:t>υτοσυγκράτηση</a:t>
            </a:r>
            <a:r>
              <a:rPr sz="1000" b="0" dirty="0">
                <a:solidFill>
                  <a:srgbClr val="1E293B"/>
                </a:solidFill>
              </a:rPr>
              <a:t>: v3 OOC </a:t>
            </a:r>
            <a:r>
              <a:rPr sz="1000" b="0" dirty="0" err="1">
                <a:solidFill>
                  <a:srgbClr val="1E293B"/>
                </a:solidFill>
              </a:rPr>
              <a:t>accept_rate</a:t>
            </a:r>
            <a:r>
              <a:rPr sz="1000" b="0" dirty="0">
                <a:solidFill>
                  <a:srgbClr val="1E293B"/>
                </a:solidFill>
              </a:rPr>
              <a:t>=86.4%, score=4.46/5.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6817" y="6310884"/>
            <a:ext cx="10896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6817" y="6245352"/>
            <a:ext cx="1089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chemeClr val="accent1">
                    <a:lumMod val="75000"/>
                  </a:schemeClr>
                </a:solidFill>
              </a:rPr>
              <a:t>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6817" y="6479488"/>
            <a:ext cx="10896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 err="1">
                <a:solidFill>
                  <a:srgbClr val="64748B"/>
                </a:solidFill>
              </a:rPr>
              <a:t>Ερωτήσεις</a:t>
            </a:r>
            <a:r>
              <a:rPr sz="800" b="0" dirty="0">
                <a:solidFill>
                  <a:srgbClr val="64748B"/>
                </a:solidFill>
              </a:rPr>
              <a:t> </a:t>
            </a:r>
            <a:r>
              <a:rPr sz="800" b="0" dirty="0" err="1">
                <a:solidFill>
                  <a:srgbClr val="64748B"/>
                </a:solidFill>
              </a:rPr>
              <a:t>Συνολικά</a:t>
            </a:r>
            <a:endParaRPr sz="800" b="0" dirty="0">
              <a:solidFill>
                <a:srgbClr val="64748B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689723" y="6316980"/>
            <a:ext cx="1161288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89723" y="6283452"/>
            <a:ext cx="1161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chemeClr val="accent1">
                    <a:lumMod val="75000"/>
                  </a:schemeClr>
                </a:solidFill>
              </a:rPr>
              <a:t>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9723" y="6509004"/>
            <a:ext cx="1161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In-Context (IC)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2137" y="6310991"/>
            <a:ext cx="1161288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12137" y="6277463"/>
            <a:ext cx="1161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chemeClr val="accent1">
                    <a:lumMod val="75000"/>
                  </a:schemeClr>
                </a:solidFill>
              </a:rPr>
              <a:t>59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2137" y="6503015"/>
            <a:ext cx="1161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Out-of-Context (OOC)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38791" y="6310991"/>
            <a:ext cx="1161288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138791" y="6277463"/>
            <a:ext cx="1161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chemeClr val="accent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38791" y="6503015"/>
            <a:ext cx="1161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Κατηγορίες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8851011" y="1656522"/>
            <a:ext cx="0" cy="265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8851011" y="2425148"/>
            <a:ext cx="0" cy="265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8851011" y="4631635"/>
            <a:ext cx="0" cy="223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Αρχιτεκτονική Συστήματος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5984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08864"/>
            <a:ext cx="11430000" cy="320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6240" y="718076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 dirty="0"/>
              <a:t>INGESTION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143000"/>
            <a:ext cx="155448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1170432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ArXiv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/>
              <a:t>fetch PDFs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5224" y="1143000"/>
            <a:ext cx="155448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5224" y="1170432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pymupdf4llm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1554480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/>
              <a:t>PDF → Markdown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8656" y="1143000"/>
            <a:ext cx="155448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48656" y="1170432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Chunker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1554480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/>
              <a:t>v1/v2/v3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2088" y="1143000"/>
            <a:ext cx="155448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62088" y="1170432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Embedder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1554480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/>
              <a:t>text-embed-3-small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143000"/>
            <a:ext cx="1554480" cy="777240"/>
          </a:xfrm>
          <a:prstGeom prst="rect">
            <a:avLst/>
          </a:prstGeom>
          <a:solidFill>
            <a:srgbClr val="E39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75520" y="1170432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Qdrant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554480"/>
            <a:ext cx="1554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/>
              <a:t>papers_v1/v2/v3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15709"/>
            <a:ext cx="11430000" cy="320040"/>
          </a:xfrm>
          <a:prstGeom prst="rect">
            <a:avLst/>
          </a:prstGeom>
          <a:solidFill>
            <a:srgbClr val="FFF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4528" y="2223521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 dirty="0"/>
              <a:t>QUERY-TIME </a:t>
            </a:r>
            <a:r>
              <a:rPr sz="1400" b="1" i="1" dirty="0" smtClean="0"/>
              <a:t>(MULTI-AGENT</a:t>
            </a:r>
            <a:r>
              <a:rPr sz="1400" b="1" i="1" dirty="0"/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2696885"/>
            <a:ext cx="1554480" cy="822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792" y="2724317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User 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3099221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/>
              <a:t>Chainlit / 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2696885"/>
            <a:ext cx="1554480" cy="822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35224" y="2724317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Planner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5224" y="3099221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/>
              <a:t>gpt-4.1-mini
sub_queries plan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8656" y="2696885"/>
            <a:ext cx="1554480" cy="822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48656" y="2724317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Researcher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8656" y="3099221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/>
              <a:t>rag_retrieve ×N
arxiv_search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62088" y="2696885"/>
            <a:ext cx="1554480" cy="822960"/>
          </a:xfrm>
          <a:prstGeom prst="rect">
            <a:avLst/>
          </a:prstGeom>
          <a:solidFill>
            <a:srgbClr val="E39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562088" y="2724317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Synthesizer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3099221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/>
              <a:t>gpt-4.1-mini
grounding prompt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2696885"/>
            <a:ext cx="1554480" cy="8229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875520" y="2724317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Answer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3099221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/>
              <a:t>streamed
with sources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776093"/>
            <a:ext cx="2176272" cy="731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3192" y="3803525"/>
            <a:ext cx="2029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 smtClean="0"/>
              <a:t>Langfuse</a:t>
            </a:r>
            <a:endParaRPr sz="16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384048" y="4103024"/>
            <a:ext cx="2029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chemeClr val="bg2">
                    <a:lumMod val="25000"/>
                  </a:schemeClr>
                </a:solidFill>
              </a:rPr>
              <a:t>Tracing &amp; observability
self-hosted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24328" y="3776093"/>
            <a:ext cx="2176272" cy="731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97480" y="3803525"/>
            <a:ext cx="2029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SQLite Cache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4096133"/>
            <a:ext cx="2029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chemeClr val="bg2">
                    <a:lumMod val="25000"/>
                  </a:schemeClr>
                </a:solidFill>
              </a:rPr>
              <a:t>Embeddings + Judge + ArXiv
SHA-256 keyed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28616" y="3776093"/>
            <a:ext cx="2176272" cy="731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01768" y="3803525"/>
            <a:ext cx="2029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BGE Reranker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1768" y="4096133"/>
            <a:ext cx="2029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chemeClr val="bg2">
                    <a:lumMod val="25000"/>
                  </a:schemeClr>
                </a:solidFill>
              </a:rPr>
              <a:t>cross-encoder
CPU inference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32904" y="3776093"/>
            <a:ext cx="2176272" cy="731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06056" y="3803525"/>
            <a:ext cx="2029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Chainlit 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06056" y="4096133"/>
            <a:ext cx="2029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chemeClr val="bg2">
                    <a:lumMod val="25000"/>
                  </a:schemeClr>
                </a:solidFill>
              </a:rPr>
              <a:t>profile selector
v1/v2/v3 live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37192" y="3776093"/>
            <a:ext cx="2176272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10344" y="3803525"/>
            <a:ext cx="2029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</a:rPr>
              <a:t>Multi-agent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10344" y="4096133"/>
            <a:ext cx="2029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LangGraph: Planner→Researcher
→Synthesizer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39" y="4641599"/>
            <a:ext cx="6297169" cy="9215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0039" y="4701349"/>
            <a:ext cx="617220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366F1"/>
                </a:solidFill>
              </a:rPr>
              <a:t>Key decisions: </a:t>
            </a:r>
            <a:endParaRPr lang="en-US" sz="1000" b="0" dirty="0" smtClean="0">
              <a:solidFill>
                <a:srgbClr val="6366F1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000" b="0" dirty="0" smtClean="0">
                <a:solidFill>
                  <a:srgbClr val="6366F1"/>
                </a:solidFill>
              </a:rPr>
              <a:t>gpt-4.1-mini </a:t>
            </a:r>
            <a:r>
              <a:rPr sz="1000" b="0" dirty="0">
                <a:solidFill>
                  <a:srgbClr val="6366F1"/>
                </a:solidFill>
              </a:rPr>
              <a:t>(</a:t>
            </a:r>
            <a:r>
              <a:rPr sz="1000" b="0" dirty="0" err="1">
                <a:solidFill>
                  <a:srgbClr val="6366F1"/>
                </a:solidFill>
              </a:rPr>
              <a:t>κόστος</a:t>
            </a:r>
            <a:r>
              <a:rPr sz="1000" b="0" dirty="0">
                <a:solidFill>
                  <a:srgbClr val="6366F1"/>
                </a:solidFill>
              </a:rPr>
              <a:t>/latency) </a:t>
            </a:r>
            <a:endParaRPr lang="en-US" sz="1000" b="0" dirty="0" smtClean="0">
              <a:solidFill>
                <a:srgbClr val="6366F1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000" b="0" dirty="0" smtClean="0">
                <a:solidFill>
                  <a:srgbClr val="6366F1"/>
                </a:solidFill>
              </a:rPr>
              <a:t>BAAI/</a:t>
            </a:r>
            <a:r>
              <a:rPr sz="1000" b="0" dirty="0" err="1" smtClean="0">
                <a:solidFill>
                  <a:srgbClr val="6366F1"/>
                </a:solidFill>
              </a:rPr>
              <a:t>bge</a:t>
            </a:r>
            <a:r>
              <a:rPr sz="1000" b="0" dirty="0" smtClean="0">
                <a:solidFill>
                  <a:srgbClr val="6366F1"/>
                </a:solidFill>
              </a:rPr>
              <a:t>-</a:t>
            </a:r>
            <a:r>
              <a:rPr sz="1000" b="0" dirty="0" err="1" smtClean="0">
                <a:solidFill>
                  <a:srgbClr val="6366F1"/>
                </a:solidFill>
              </a:rPr>
              <a:t>reranker</a:t>
            </a:r>
            <a:r>
              <a:rPr sz="1000" b="0" dirty="0" smtClean="0">
                <a:solidFill>
                  <a:srgbClr val="6366F1"/>
                </a:solidFill>
              </a:rPr>
              <a:t>-base </a:t>
            </a:r>
            <a:r>
              <a:rPr sz="1000" b="0" dirty="0">
                <a:solidFill>
                  <a:srgbClr val="6366F1"/>
                </a:solidFill>
              </a:rPr>
              <a:t>(CPU, </a:t>
            </a:r>
            <a:r>
              <a:rPr sz="1000" b="0" dirty="0" err="1">
                <a:solidFill>
                  <a:srgbClr val="6366F1"/>
                </a:solidFill>
              </a:rPr>
              <a:t>δωρεάν</a:t>
            </a:r>
            <a:r>
              <a:rPr sz="1000" b="0" dirty="0">
                <a:solidFill>
                  <a:srgbClr val="6366F1"/>
                </a:solidFill>
              </a:rPr>
              <a:t>) </a:t>
            </a:r>
            <a:r>
              <a:rPr sz="1000" b="0" dirty="0" smtClean="0">
                <a:solidFill>
                  <a:srgbClr val="6366F1"/>
                </a:solidFill>
              </a:rPr>
              <a:t> </a:t>
            </a:r>
            <a:endParaRPr lang="en-US" sz="1000" b="0" dirty="0" smtClean="0">
              <a:solidFill>
                <a:srgbClr val="6366F1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000" b="0" dirty="0" err="1" smtClean="0">
                <a:solidFill>
                  <a:srgbClr val="6366F1"/>
                </a:solidFill>
              </a:rPr>
              <a:t>Qdrant</a:t>
            </a:r>
            <a:r>
              <a:rPr sz="1000" b="0" dirty="0" smtClean="0">
                <a:solidFill>
                  <a:srgbClr val="6366F1"/>
                </a:solidFill>
              </a:rPr>
              <a:t> </a:t>
            </a:r>
            <a:r>
              <a:rPr sz="1000" b="0" dirty="0" err="1">
                <a:solidFill>
                  <a:srgbClr val="6366F1"/>
                </a:solidFill>
              </a:rPr>
              <a:t>ξεχωριστά</a:t>
            </a:r>
            <a:r>
              <a:rPr sz="1000" b="0" dirty="0">
                <a:solidFill>
                  <a:srgbClr val="6366F1"/>
                </a:solidFill>
              </a:rPr>
              <a:t> collections α</a:t>
            </a:r>
            <a:r>
              <a:rPr sz="1000" b="0" dirty="0" err="1">
                <a:solidFill>
                  <a:srgbClr val="6366F1"/>
                </a:solidFill>
              </a:rPr>
              <a:t>νά</a:t>
            </a:r>
            <a:r>
              <a:rPr sz="1000" b="0" dirty="0">
                <a:solidFill>
                  <a:srgbClr val="6366F1"/>
                </a:solidFill>
              </a:rPr>
              <a:t> version </a:t>
            </a:r>
            <a:r>
              <a:rPr sz="1000" b="0" dirty="0" smtClean="0">
                <a:solidFill>
                  <a:srgbClr val="6366F1"/>
                </a:solidFill>
              </a:rPr>
              <a:t> </a:t>
            </a:r>
            <a:r>
              <a:rPr sz="1000" b="0" dirty="0" err="1">
                <a:solidFill>
                  <a:srgbClr val="6366F1"/>
                </a:solidFill>
              </a:rPr>
              <a:t>LangGraph</a:t>
            </a:r>
            <a:r>
              <a:rPr sz="1000" b="0" dirty="0">
                <a:solidFill>
                  <a:srgbClr val="6366F1"/>
                </a:solidFill>
              </a:rPr>
              <a:t> multi-agent graph (Planner/Researcher/Synthesizer) </a:t>
            </a:r>
            <a:endParaRPr lang="en-US" sz="1000" b="0" dirty="0" smtClean="0">
              <a:solidFill>
                <a:srgbClr val="6366F1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000" b="0" dirty="0" smtClean="0">
                <a:solidFill>
                  <a:srgbClr val="6366F1"/>
                </a:solidFill>
              </a:rPr>
              <a:t>~</a:t>
            </a:r>
            <a:r>
              <a:rPr sz="1000" b="0" dirty="0">
                <a:solidFill>
                  <a:srgbClr val="6366F1"/>
                </a:solidFill>
              </a:rPr>
              <a:t>30s median latency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599" y="5732593"/>
            <a:ext cx="3822191" cy="9372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28599" y="5732593"/>
            <a:ext cx="3822191" cy="29260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0039" y="5741737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/>
              <a:t>Planner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39" y="6061777"/>
            <a:ext cx="363931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1E293B"/>
                </a:solidFill>
              </a:rPr>
              <a:t>gpt-4.1-mini </a:t>
            </a:r>
            <a:r>
              <a:rPr sz="900" b="0" dirty="0" err="1">
                <a:solidFill>
                  <a:srgbClr val="1E293B"/>
                </a:solidFill>
              </a:rPr>
              <a:t>με</a:t>
            </a:r>
            <a:r>
              <a:rPr sz="900" b="0" dirty="0">
                <a:solidFill>
                  <a:srgbClr val="1E293B"/>
                </a:solidFill>
              </a:rPr>
              <a:t> structured output (</a:t>
            </a:r>
            <a:r>
              <a:rPr sz="900" b="0" dirty="0" err="1">
                <a:solidFill>
                  <a:srgbClr val="1E293B"/>
                </a:solidFill>
              </a:rPr>
              <a:t>SearchPlan</a:t>
            </a:r>
            <a:r>
              <a:rPr sz="900" b="0" dirty="0">
                <a:solidFill>
                  <a:srgbClr val="1E293B"/>
                </a:solidFill>
              </a:rPr>
              <a:t>). Απ</a:t>
            </a:r>
            <a:r>
              <a:rPr sz="900" b="0" dirty="0" err="1">
                <a:solidFill>
                  <a:srgbClr val="1E293B"/>
                </a:solidFill>
              </a:rPr>
              <a:t>οφ</a:t>
            </a:r>
            <a:r>
              <a:rPr sz="900" b="0" dirty="0">
                <a:solidFill>
                  <a:srgbClr val="1E293B"/>
                </a:solidFill>
              </a:rPr>
              <a:t>ασίζει: mode (quick_qa / deep_analysis / out_of_context), sub_queries[], needs_arxiv. ~1s latency. Fast LLM </a:t>
            </a:r>
            <a:r>
              <a:rPr sz="900" b="0" dirty="0" err="1">
                <a:solidFill>
                  <a:srgbClr val="1E293B"/>
                </a:solidFill>
              </a:rPr>
              <a:t>γι</a:t>
            </a:r>
            <a:r>
              <a:rPr sz="900" b="0" dirty="0">
                <a:solidFill>
                  <a:srgbClr val="1E293B"/>
                </a:solidFill>
              </a:rPr>
              <a:t>α cost efficiency </a:t>
            </a:r>
            <a:r>
              <a:rPr lang="en-US" sz="900" b="0" dirty="0" smtClean="0">
                <a:solidFill>
                  <a:srgbClr val="1E293B"/>
                </a:solidFill>
              </a:rPr>
              <a:t>-</a:t>
            </a:r>
            <a:r>
              <a:rPr sz="900" b="0" dirty="0" smtClean="0">
                <a:solidFill>
                  <a:srgbClr val="1E293B"/>
                </a:solidFill>
              </a:rPr>
              <a:t> </a:t>
            </a:r>
            <a:r>
              <a:rPr sz="900" b="0" dirty="0">
                <a:solidFill>
                  <a:srgbClr val="1E293B"/>
                </a:solidFill>
              </a:rPr>
              <a:t>ο 'thinking' κόμβος.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87951" y="5732593"/>
            <a:ext cx="3822191" cy="9372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187951" y="5732593"/>
            <a:ext cx="3822191" cy="29260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79391" y="5741737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Researcher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70831" y="6080065"/>
            <a:ext cx="363931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1E293B"/>
                </a:solidFill>
              </a:rPr>
              <a:t>asyncio.gather</a:t>
            </a:r>
            <a:r>
              <a:rPr sz="900" b="0" dirty="0">
                <a:solidFill>
                  <a:srgbClr val="1E293B"/>
                </a:solidFill>
              </a:rPr>
              <a:t>: </a:t>
            </a:r>
            <a:r>
              <a:rPr sz="900" b="0" dirty="0" err="1">
                <a:solidFill>
                  <a:srgbClr val="1E293B"/>
                </a:solidFill>
              </a:rPr>
              <a:t>rag_retrieve</a:t>
            </a:r>
            <a:r>
              <a:rPr sz="900" b="0" dirty="0">
                <a:solidFill>
                  <a:srgbClr val="1E293B"/>
                </a:solidFill>
              </a:rPr>
              <a:t> (</a:t>
            </a:r>
            <a:r>
              <a:rPr sz="900" b="0" dirty="0" err="1">
                <a:solidFill>
                  <a:srgbClr val="1E293B"/>
                </a:solidFill>
              </a:rPr>
              <a:t>Qdrant</a:t>
            </a:r>
            <a:r>
              <a:rPr sz="900" b="0" dirty="0">
                <a:solidFill>
                  <a:srgbClr val="1E293B"/>
                </a:solidFill>
              </a:rPr>
              <a:t> dense + BGE </a:t>
            </a:r>
            <a:r>
              <a:rPr sz="900" b="0" dirty="0" err="1">
                <a:solidFill>
                  <a:srgbClr val="1E293B"/>
                </a:solidFill>
              </a:rPr>
              <a:t>rerank</a:t>
            </a:r>
            <a:r>
              <a:rPr sz="900" b="0" dirty="0">
                <a:solidFill>
                  <a:srgbClr val="1E293B"/>
                </a:solidFill>
              </a:rPr>
              <a:t> top-4) + </a:t>
            </a:r>
            <a:r>
              <a:rPr sz="900" b="0" dirty="0" err="1">
                <a:solidFill>
                  <a:srgbClr val="1E293B"/>
                </a:solidFill>
              </a:rPr>
              <a:t>arxiv_search</a:t>
            </a:r>
            <a:r>
              <a:rPr sz="900" b="0" dirty="0">
                <a:solidFill>
                  <a:srgbClr val="1E293B"/>
                </a:solidFill>
              </a:rPr>
              <a:t> (live API, cached). N retrieve calls </a:t>
            </a:r>
            <a:r>
              <a:rPr sz="900" b="0" dirty="0" err="1">
                <a:solidFill>
                  <a:srgbClr val="1E293B"/>
                </a:solidFill>
              </a:rPr>
              <a:t>γι</a:t>
            </a:r>
            <a:r>
              <a:rPr sz="900" b="0" dirty="0">
                <a:solidFill>
                  <a:srgbClr val="1E293B"/>
                </a:solidFill>
              </a:rPr>
              <a:t>α N sub_queries. </a:t>
            </a:r>
            <a:r>
              <a:rPr sz="900" b="0" dirty="0" err="1">
                <a:solidFill>
                  <a:srgbClr val="1E293B"/>
                </a:solidFill>
              </a:rPr>
              <a:t>Deduplicates</a:t>
            </a:r>
            <a:r>
              <a:rPr sz="900" b="0" dirty="0">
                <a:solidFill>
                  <a:srgbClr val="1E293B"/>
                </a:solidFill>
              </a:rPr>
              <a:t> chunks, distills </a:t>
            </a:r>
            <a:r>
              <a:rPr sz="900" b="0" dirty="0" err="1">
                <a:solidFill>
                  <a:srgbClr val="1E293B"/>
                </a:solidFill>
              </a:rPr>
              <a:t>σε</a:t>
            </a:r>
            <a:r>
              <a:rPr sz="900" b="0" dirty="0">
                <a:solidFill>
                  <a:srgbClr val="1E293B"/>
                </a:solidFill>
              </a:rPr>
              <a:t> bullet points </a:t>
            </a:r>
            <a:r>
              <a:rPr sz="900" b="0" dirty="0" err="1">
                <a:solidFill>
                  <a:srgbClr val="1E293B"/>
                </a:solidFill>
              </a:rPr>
              <a:t>γι</a:t>
            </a:r>
            <a:r>
              <a:rPr sz="900" b="0" dirty="0">
                <a:solidFill>
                  <a:srgbClr val="1E293B"/>
                </a:solidFill>
              </a:rPr>
              <a:t>α Synthesizer.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47303" y="5732593"/>
            <a:ext cx="3822191" cy="9372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147303" y="5732593"/>
            <a:ext cx="3822191" cy="2926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238743" y="5741737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Synthesizer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0183" y="6080065"/>
            <a:ext cx="363931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gpt-4.1-mini με grounding prompt: 'Answer ONLY from provided context. Cite paper IDs.' Streaming output → Chainlit. Αρνείται με explanation αν mode=out_of_context ή context κενό.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  <p:cxnSp>
        <p:nvCxnSpPr>
          <p:cNvPr id="82" name="Straight Arrow Connector 81"/>
          <p:cNvCxnSpPr/>
          <p:nvPr/>
        </p:nvCxnSpPr>
        <p:spPr>
          <a:xfrm>
            <a:off x="2293620" y="1554480"/>
            <a:ext cx="525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4597908" y="1554480"/>
            <a:ext cx="525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6950964" y="1554480"/>
            <a:ext cx="525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9233154" y="1554480"/>
            <a:ext cx="525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2293620" y="3083981"/>
            <a:ext cx="525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4625340" y="3076361"/>
            <a:ext cx="525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935724" y="3076361"/>
            <a:ext cx="525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9214104" y="3161705"/>
            <a:ext cx="525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-1" y="3601240"/>
            <a:ext cx="12188825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Pipeline Εκδόσεις: v1 (Baseline) vs v2 (Enhanced)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733432"/>
              </p:ext>
            </p:extLst>
          </p:nvPr>
        </p:nvGraphicFramePr>
        <p:xfrm>
          <a:off x="320040" y="669887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Χαρα</a:t>
                      </a:r>
                      <a:r>
                        <a:rPr sz="1800" b="1" dirty="0" err="1">
                          <a:solidFill>
                            <a:schemeClr val="tx1"/>
                          </a:solidFill>
                        </a:rPr>
                        <a:t>κτηριστικό</a:t>
                      </a:r>
                      <a:endParaRPr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v1 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18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v2 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18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Enhanced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E293B"/>
                          </a:solidFill>
                        </a:rPr>
                        <a:t>Chunking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E293B"/>
                          </a:solidFill>
                        </a:rPr>
                        <a:t>FixedSizeChunker</a:t>
                      </a:r>
                      <a:endParaRPr sz="1400" b="0" dirty="0">
                        <a:solidFill>
                          <a:srgbClr val="1E293B"/>
                        </a:solidFill>
                      </a:endParaRPr>
                    </a:p>
                    <a:p>
                      <a:pPr algn="ctr"/>
                      <a:r>
                        <a:rPr sz="1400" dirty="0"/>
                        <a:t>512 tokens, overlap 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E293B"/>
                          </a:solidFill>
                        </a:rPr>
                        <a:t>SectionAwareChunker</a:t>
                      </a:r>
                      <a:endParaRPr sz="1400" b="0" dirty="0">
                        <a:solidFill>
                          <a:srgbClr val="1E293B"/>
                        </a:solidFill>
                      </a:endParaRPr>
                    </a:p>
                    <a:p>
                      <a:pPr algn="ctr"/>
                      <a:r>
                        <a:rPr sz="1400" b="1" dirty="0"/>
                        <a:t>header-based (##)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Chunk 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~1050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~1250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Μέσο μέγεθος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~340 tokens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~234 tokens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Dense top-5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Dense top-8 → BGE rerank → top-4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Metadata filter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Κανένα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year/category heuristic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References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Περιλαμβάνονται (noise)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Εξαιρούνται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Section metadata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section_type='other'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E293B"/>
                          </a:solidFill>
                        </a:rPr>
                        <a:t>11 normalized section types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E293B"/>
                          </a:solidFill>
                        </a:rPr>
                        <a:t>OOC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E293B"/>
                          </a:solidFill>
                        </a:rPr>
                        <a:t>Passthrough</a:t>
                      </a:r>
                      <a:endParaRPr sz="1400" b="0" dirty="0">
                        <a:solidFill>
                          <a:srgbClr val="1E293B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E293B"/>
                          </a:solidFill>
                        </a:rPr>
                        <a:t>Better boundary awareness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3817620"/>
            <a:ext cx="5577840" cy="91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881628"/>
            <a:ext cx="5349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A580C"/>
                </a:solidFill>
              </a:rPr>
              <a:t>BGE Cross-Encoder: +17% Context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74236"/>
            <a:ext cx="5349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~280M params, CPU ~50ms/query. Reranks top-8 → top-4. Απορρίπτει semantically-similar αλλά off-topic chunks. CP: 0.163 → 0.190.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817620"/>
            <a:ext cx="5577840" cy="91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3881628"/>
            <a:ext cx="5349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</a:rPr>
              <a:t>Section-Aware Chunks: +249% Methodological 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74236"/>
            <a:ext cx="5349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11 section types (abstract/intro/method/eval…). Mean chunk size 340→234 tokens. Procedural chunks ανυψώνονται στο rerank. Methodological CP: 0.087 → 0.303.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841748"/>
            <a:ext cx="5577840" cy="91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905756"/>
            <a:ext cx="5349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Reference Exclusion: Faithfulness βελτίωση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98364"/>
            <a:ext cx="5349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v1: reference list συμπεριλαμβάνεται → citation noise. v2: section_type='references' εξαιρείται. Answer Relevancy: 0.579 → 0.598.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841748"/>
            <a:ext cx="5577840" cy="91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4905756"/>
            <a:ext cx="5349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Year/Category Metadata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198364"/>
            <a:ext cx="5349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Year heuristic: αποκλείει papers &gt;10 ετών για recent-method queries. ArXiv sort=Relevance: φέρνει NLP/ML papers αντί domain-specific (ιατρική, χρηματ.).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920740"/>
            <a:ext cx="11430000" cy="5303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94817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chemeClr val="accent2">
                    <a:lumMod val="50000"/>
                  </a:schemeClr>
                </a:solidFill>
              </a:rPr>
              <a:t>Αλλ</a:t>
            </a:r>
            <a:r>
              <a:rPr sz="1000" b="0" dirty="0">
                <a:solidFill>
                  <a:schemeClr val="accent2">
                    <a:lumMod val="50000"/>
                  </a:schemeClr>
                </a:solidFill>
              </a:rPr>
              <a:t>αγή sort_by: SubmittedDate → Relevance έφερε methodological papers αντί domain-specific (ιατρική RAG, χρηματοοικ. RAG). BGE cross-encoder (~280M </a:t>
            </a:r>
            <a:r>
              <a:rPr sz="1000" b="0" dirty="0" err="1">
                <a:solidFill>
                  <a:schemeClr val="accent2">
                    <a:lumMod val="50000"/>
                  </a:schemeClr>
                </a:solidFill>
              </a:rPr>
              <a:t>params</a:t>
            </a:r>
            <a:r>
              <a:rPr sz="1000" b="0" dirty="0">
                <a:solidFill>
                  <a:schemeClr val="accent2">
                    <a:lumMod val="50000"/>
                  </a:schemeClr>
                </a:solidFill>
              </a:rPr>
              <a:t>, CPU ~50ms/query) β</a:t>
            </a:r>
            <a:r>
              <a:rPr sz="1000" b="0" dirty="0" err="1">
                <a:solidFill>
                  <a:schemeClr val="accent2">
                    <a:lumMod val="50000"/>
                  </a:schemeClr>
                </a:solidFill>
              </a:rPr>
              <a:t>ελτίωσε</a:t>
            </a:r>
            <a:r>
              <a:rPr sz="1000" b="0" dirty="0">
                <a:solidFill>
                  <a:schemeClr val="accent2">
                    <a:lumMod val="50000"/>
                  </a:schemeClr>
                </a:solidFill>
              </a:rPr>
              <a:t> Context Precision κα</a:t>
            </a:r>
            <a:r>
              <a:rPr sz="1000" b="0" dirty="0" err="1">
                <a:solidFill>
                  <a:schemeClr val="accent2">
                    <a:lumMod val="50000"/>
                  </a:schemeClr>
                </a:solidFill>
              </a:rPr>
              <a:t>τά</a:t>
            </a:r>
            <a:r>
              <a:rPr sz="1000" b="0" dirty="0">
                <a:solidFill>
                  <a:schemeClr val="accent2">
                    <a:lumMod val="50000"/>
                  </a:schemeClr>
                </a:solidFill>
              </a:rPr>
              <a:t> +17%.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E293B"/>
                </a:solidFill>
              </a:rPr>
              <a:t>Pipeline v3 </a:t>
            </a:r>
            <a:r>
              <a:rPr lang="en-US" sz="2200" b="1" dirty="0" smtClean="0">
                <a:solidFill>
                  <a:srgbClr val="1E293B"/>
                </a:solidFill>
              </a:rPr>
              <a:t>-</a:t>
            </a:r>
            <a:r>
              <a:rPr sz="2200" b="1" dirty="0" smtClean="0">
                <a:solidFill>
                  <a:srgbClr val="1E293B"/>
                </a:solidFill>
              </a:rPr>
              <a:t> </a:t>
            </a:r>
            <a:r>
              <a:rPr sz="2200" b="1" dirty="0">
                <a:solidFill>
                  <a:srgbClr val="1E293B"/>
                </a:solidFill>
              </a:rPr>
              <a:t>Advanced (6 </a:t>
            </a:r>
            <a:r>
              <a:rPr sz="2200" b="1" dirty="0" err="1">
                <a:solidFill>
                  <a:srgbClr val="1E293B"/>
                </a:solidFill>
              </a:rPr>
              <a:t>Βελτιώσεις</a:t>
            </a:r>
            <a:r>
              <a:rPr sz="2200" b="1" dirty="0">
                <a:solidFill>
                  <a:srgbClr val="1E293B"/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-127" y="632302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842961"/>
              </p:ext>
            </p:extLst>
          </p:nvPr>
        </p:nvGraphicFramePr>
        <p:xfrm>
          <a:off x="567597" y="4968960"/>
          <a:ext cx="11053504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57">
                  <a:extLst>
                    <a:ext uri="{9D8B030D-6E8A-4147-A177-3AD203B41FA5}">
                      <a16:colId xmlns:a16="http://schemas.microsoft.com/office/drawing/2014/main" val="2808255936"/>
                    </a:ext>
                  </a:extLst>
                </a:gridCol>
                <a:gridCol w="2154257">
                  <a:extLst>
                    <a:ext uri="{9D8B030D-6E8A-4147-A177-3AD203B41FA5}">
                      <a16:colId xmlns:a16="http://schemas.microsoft.com/office/drawing/2014/main" val="2753643218"/>
                    </a:ext>
                  </a:extLst>
                </a:gridCol>
                <a:gridCol w="2312670">
                  <a:extLst>
                    <a:ext uri="{9D8B030D-6E8A-4147-A177-3AD203B41FA5}">
                      <a16:colId xmlns:a16="http://schemas.microsoft.com/office/drawing/2014/main" val="3774591624"/>
                    </a:ext>
                  </a:extLst>
                </a:gridCol>
                <a:gridCol w="2278063">
                  <a:extLst>
                    <a:ext uri="{9D8B030D-6E8A-4147-A177-3AD203B41FA5}">
                      <a16:colId xmlns:a16="http://schemas.microsoft.com/office/drawing/2014/main" val="46955524"/>
                    </a:ext>
                  </a:extLst>
                </a:gridCol>
                <a:gridCol w="2154257">
                  <a:extLst>
                    <a:ext uri="{9D8B030D-6E8A-4147-A177-3AD203B41FA5}">
                      <a16:colId xmlns:a16="http://schemas.microsoft.com/office/drawing/2014/main" val="260954776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2060"/>
                          </a:solidFill>
                        </a:rPr>
                        <a:t>v3 </a:t>
                      </a:r>
                      <a:r>
                        <a:rPr lang="el-GR" sz="1800" b="1" dirty="0" smtClean="0">
                          <a:solidFill>
                            <a:srgbClr val="002060"/>
                          </a:solidFill>
                        </a:rPr>
                        <a:t>Συνολικό </a:t>
                      </a:r>
                      <a:r>
                        <a:rPr lang="en-US" sz="1800" b="1" dirty="0" smtClean="0">
                          <a:solidFill>
                            <a:srgbClr val="002060"/>
                          </a:solidFill>
                        </a:rPr>
                        <a:t>Impact (vs v1 baseline)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00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latin typeface="Arial Rounded MT Bold" panose="020F0704030504030204" pitchFamily="34" charset="0"/>
                        </a:rPr>
                        <a:t>Context Precision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B050"/>
                          </a:solidFill>
                        </a:rPr>
                        <a:t>+29.4%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0.163 → 0.211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latin typeface="Arial Rounded MT Bold" panose="020F0704030504030204" pitchFamily="34" charset="0"/>
                        </a:rPr>
                        <a:t>Context Recall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B050"/>
                          </a:solidFill>
                        </a:rPr>
                        <a:t>+6.8%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0.354 → 0.378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latin typeface="Arial Rounded MT Bold" panose="020F0704030504030204" pitchFamily="34" charset="0"/>
                        </a:rPr>
                        <a:t>Tool Call Accuracy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B050"/>
                          </a:solidFill>
                        </a:rPr>
                        <a:t>+7.2%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0.655 → 0.702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latin typeface="Arial Rounded MT Bold" panose="020F0704030504030204" pitchFamily="34" charset="0"/>
                        </a:rPr>
                        <a:t>HAIC Judge Score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B050"/>
                          </a:solidFill>
                        </a:rPr>
                        <a:t>+18%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3.21 → 3.79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latin typeface="Arial Rounded MT Bold" panose="020F0704030504030204" pitchFamily="34" charset="0"/>
                        </a:rPr>
                        <a:t>OOC Accept Rate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B050"/>
                          </a:solidFill>
                        </a:rPr>
                        <a:t>+54%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56% → 86.4%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886031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320040" y="1126326"/>
            <a:ext cx="5760720" cy="9653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457200" y="119947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6A34A"/>
                </a:solidFill>
              </a:rPr>
              <a:t>Table-aware </a:t>
            </a:r>
            <a:r>
              <a:rPr sz="1600" b="1" dirty="0" err="1">
                <a:solidFill>
                  <a:srgbClr val="16A34A"/>
                </a:solidFill>
              </a:rPr>
              <a:t>Chunker</a:t>
            </a:r>
            <a:endParaRPr sz="1600" b="1" dirty="0">
              <a:solidFill>
                <a:srgbClr val="16A34A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1510374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1E293B"/>
                </a:solidFill>
              </a:rPr>
              <a:t>Ποτέ</a:t>
            </a:r>
            <a:r>
              <a:rPr sz="1200" b="0" dirty="0">
                <a:solidFill>
                  <a:srgbClr val="1E293B"/>
                </a:solidFill>
              </a:rPr>
              <a:t> </a:t>
            </a:r>
            <a:r>
              <a:rPr sz="1200" b="0" dirty="0" err="1">
                <a:solidFill>
                  <a:srgbClr val="1E293B"/>
                </a:solidFill>
              </a:rPr>
              <a:t>δεν</a:t>
            </a:r>
            <a:r>
              <a:rPr sz="1200" b="0" dirty="0">
                <a:solidFill>
                  <a:srgbClr val="1E293B"/>
                </a:solidFill>
              </a:rPr>
              <a:t> σπ</a:t>
            </a:r>
            <a:r>
              <a:rPr sz="1200" b="0" dirty="0" err="1">
                <a:solidFill>
                  <a:srgbClr val="1E293B"/>
                </a:solidFill>
              </a:rPr>
              <a:t>άει</a:t>
            </a:r>
            <a:r>
              <a:rPr sz="1200" b="0" dirty="0">
                <a:solidFill>
                  <a:srgbClr val="1E293B"/>
                </a:solidFill>
              </a:rPr>
              <a:t> Markdown table rows (</a:t>
            </a:r>
            <a:r>
              <a:rPr sz="1200" b="0" dirty="0" err="1">
                <a:solidFill>
                  <a:srgbClr val="1E293B"/>
                </a:solidFill>
              </a:rPr>
              <a:t>γρ</a:t>
            </a:r>
            <a:r>
              <a:rPr sz="1200" b="0" dirty="0">
                <a:solidFill>
                  <a:srgbClr val="1E293B"/>
                </a:solidFill>
              </a:rPr>
              <a:t>αμμές που αρχίζουν με |). Splits </a:t>
            </a:r>
            <a:r>
              <a:rPr sz="1200" b="0" dirty="0" err="1">
                <a:solidFill>
                  <a:srgbClr val="1E293B"/>
                </a:solidFill>
              </a:rPr>
              <a:t>μόνο</a:t>
            </a:r>
            <a:r>
              <a:rPr sz="1200" b="0" dirty="0">
                <a:solidFill>
                  <a:srgbClr val="1E293B"/>
                </a:solidFill>
              </a:rPr>
              <a:t> </a:t>
            </a:r>
            <a:r>
              <a:rPr sz="1200" b="0" dirty="0" err="1">
                <a:solidFill>
                  <a:srgbClr val="1E293B"/>
                </a:solidFill>
              </a:rPr>
              <a:t>σε</a:t>
            </a:r>
            <a:r>
              <a:rPr sz="1200" b="0" dirty="0">
                <a:solidFill>
                  <a:srgbClr val="1E293B"/>
                </a:solidFill>
              </a:rPr>
              <a:t> row boundaries αν </a:t>
            </a:r>
            <a:r>
              <a:rPr sz="1200" b="0" dirty="0" err="1">
                <a:solidFill>
                  <a:srgbClr val="1E293B"/>
                </a:solidFill>
              </a:rPr>
              <a:t>το</a:t>
            </a:r>
            <a:r>
              <a:rPr sz="1200" b="0" dirty="0">
                <a:solidFill>
                  <a:srgbClr val="1E293B"/>
                </a:solidFill>
              </a:rPr>
              <a:t> chunk </a:t>
            </a:r>
            <a:r>
              <a:rPr sz="1200" b="0" dirty="0" err="1">
                <a:solidFill>
                  <a:srgbClr val="1E293B"/>
                </a:solidFill>
              </a:rPr>
              <a:t>είν</a:t>
            </a:r>
            <a:r>
              <a:rPr sz="1200" b="0" dirty="0">
                <a:solidFill>
                  <a:srgbClr val="1E293B"/>
                </a:solidFill>
              </a:rPr>
              <a:t>αι oversized.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126326"/>
            <a:ext cx="5760720" cy="9653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6400800" y="119947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</a:rPr>
              <a:t>Diversity Reranking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510374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seen_papers: set[str] στο rerank() — max 1 chunk ανά paper_id στα top-k. Λύση στο 'reranker αποθάπτει citation chunks' failure mode.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423160"/>
            <a:ext cx="5760720" cy="9653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457200" y="2496312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Author Alias Metadata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807208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PAPER_ALIASES dict: 10 papers → nicknames (HyDE, Self-RAG, ReAct, κλπ.) αποθηκεύονται στο Qdrant payload ως aliases field.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423160"/>
            <a:ext cx="5760720" cy="9653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6400800" y="2496312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IRCoT Sub-queries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807208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Planner (gpt-4.1-mini, fast) παράγει SearchPlan με sub_queries[]. Researcher κάνει rag_retrieve για κάθε sub-query → dedup → distill.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593591"/>
            <a:ext cx="5760720" cy="1030379"/>
          </a:xfrm>
          <a:prstGeom prst="rect">
            <a:avLst/>
          </a:prstGeom>
          <a:solidFill>
            <a:srgbClr val="F1F5F9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457200" y="3666744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</a:rPr>
              <a:t>Multi-agent Orchestration  [L11 +5 pts]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977640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LangGraph StateGraph: Planner → Researcher → Synthesizer (ξεχωριστοί κόμβοι). Πολύπλοκα queries decompose σε sub-queries, parallel retrieval, synthesis με grounding prompt.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593592"/>
            <a:ext cx="5760720" cy="965366"/>
          </a:xfrm>
          <a:prstGeom prst="rect">
            <a:avLst/>
          </a:prstGeom>
          <a:solidFill>
            <a:srgbClr val="F1F5F9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6400800" y="3666744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</a:rPr>
              <a:t>Eval ArXiv Caching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97764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SQLite cache namespace 'arxiv': SHA-256(query+max_results) → results. HTTP 429 κατά eval batch πλέον δεν επηρεάζει TCA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Evaluation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3703320" cy="214265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370332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819823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RAGAS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37719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E293B"/>
                </a:solidFill>
              </a:rPr>
              <a:t>4 </a:t>
            </a:r>
            <a:r>
              <a:rPr sz="1400" b="0" dirty="0" err="1">
                <a:solidFill>
                  <a:srgbClr val="1E293B"/>
                </a:solidFill>
              </a:rPr>
              <a:t>μετρικές</a:t>
            </a:r>
            <a:r>
              <a:rPr sz="1400" b="0" dirty="0">
                <a:solidFill>
                  <a:srgbClr val="1E293B"/>
                </a:solidFill>
              </a:rPr>
              <a:t>:
• Context Precision </a:t>
            </a:r>
            <a:r>
              <a:rPr lang="en-US" sz="1400" b="0" dirty="0" smtClean="0">
                <a:solidFill>
                  <a:srgbClr val="1E293B"/>
                </a:solidFill>
              </a:rPr>
              <a:t>-</a:t>
            </a:r>
            <a:r>
              <a:rPr sz="1400" b="0" dirty="0" smtClean="0">
                <a:solidFill>
                  <a:srgbClr val="1E293B"/>
                </a:solidFill>
              </a:rPr>
              <a:t> </a:t>
            </a:r>
            <a:r>
              <a:rPr sz="1400" b="0" dirty="0" err="1">
                <a:solidFill>
                  <a:srgbClr val="1E293B"/>
                </a:solidFill>
              </a:rPr>
              <a:t>χρήσιμ</a:t>
            </a:r>
            <a:r>
              <a:rPr sz="1400" b="0" dirty="0">
                <a:solidFill>
                  <a:srgbClr val="1E293B"/>
                </a:solidFill>
              </a:rPr>
              <a:t>α vs retrieved chunks
• Context Recall </a:t>
            </a:r>
            <a:r>
              <a:rPr lang="en-US" sz="1400" b="0" dirty="0" smtClean="0">
                <a:solidFill>
                  <a:srgbClr val="1E293B"/>
                </a:solidFill>
              </a:rPr>
              <a:t>-</a:t>
            </a:r>
            <a:r>
              <a:rPr sz="1400" b="0" dirty="0" smtClean="0">
                <a:solidFill>
                  <a:srgbClr val="1E293B"/>
                </a:solidFill>
              </a:rPr>
              <a:t> </a:t>
            </a:r>
            <a:r>
              <a:rPr sz="1400" b="0" dirty="0">
                <a:solidFill>
                  <a:srgbClr val="1E293B"/>
                </a:solidFill>
              </a:rPr>
              <a:t>κάλυψη ground-truth
• Faithfulness </a:t>
            </a:r>
            <a:r>
              <a:rPr lang="en-US" sz="1400" b="0" dirty="0" smtClean="0">
                <a:solidFill>
                  <a:srgbClr val="1E293B"/>
                </a:solidFill>
              </a:rPr>
              <a:t>-</a:t>
            </a:r>
            <a:r>
              <a:rPr sz="1400" b="0" dirty="0" smtClean="0">
                <a:solidFill>
                  <a:srgbClr val="1E293B"/>
                </a:solidFill>
              </a:rPr>
              <a:t> </a:t>
            </a:r>
            <a:r>
              <a:rPr sz="1400" b="0" dirty="0">
                <a:solidFill>
                  <a:srgbClr val="1E293B"/>
                </a:solidFill>
              </a:rPr>
              <a:t>claims supported by context
• Answer Relevancy </a:t>
            </a:r>
            <a:r>
              <a:rPr lang="en-US" sz="1400" b="0" dirty="0" smtClean="0">
                <a:solidFill>
                  <a:srgbClr val="1E293B"/>
                </a:solidFill>
              </a:rPr>
              <a:t>-</a:t>
            </a:r>
            <a:r>
              <a:rPr sz="1400" b="0" dirty="0" smtClean="0">
                <a:solidFill>
                  <a:srgbClr val="1E293B"/>
                </a:solidFill>
              </a:rPr>
              <a:t> </a:t>
            </a:r>
            <a:r>
              <a:rPr sz="1400" b="0" dirty="0">
                <a:solidFill>
                  <a:srgbClr val="1E293B"/>
                </a:solidFill>
              </a:rPr>
              <a:t>on-topic response
Judge: </a:t>
            </a:r>
            <a:r>
              <a:rPr sz="1400" b="0" dirty="0" smtClean="0">
                <a:solidFill>
                  <a:srgbClr val="1E293B"/>
                </a:solidFill>
              </a:rPr>
              <a:t>gpt-4.1-mini</a:t>
            </a:r>
            <a:r>
              <a:rPr lang="en-US" sz="1400" dirty="0">
                <a:solidFill>
                  <a:srgbClr val="1E293B"/>
                </a:solidFill>
              </a:rPr>
              <a:t>/</a:t>
            </a:r>
            <a:r>
              <a:rPr sz="1400" b="0" dirty="0" smtClean="0">
                <a:solidFill>
                  <a:srgbClr val="1E293B"/>
                </a:solidFill>
              </a:rPr>
              <a:t>temperature=0</a:t>
            </a:r>
            <a:r>
              <a:rPr lang="en-US" sz="1400" b="0" dirty="0" smtClean="0">
                <a:solidFill>
                  <a:srgbClr val="1E293B"/>
                </a:solidFill>
              </a:rPr>
              <a:t> /</a:t>
            </a:r>
            <a:r>
              <a:rPr sz="1400" b="0" dirty="0" smtClean="0">
                <a:solidFill>
                  <a:srgbClr val="1E293B"/>
                </a:solidFill>
              </a:rPr>
              <a:t>SQLite </a:t>
            </a:r>
            <a:r>
              <a:rPr sz="1400" b="0" dirty="0">
                <a:solidFill>
                  <a:srgbClr val="1E293B"/>
                </a:solidFill>
              </a:rPr>
              <a:t>cache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777240"/>
            <a:ext cx="3657600" cy="214265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777240"/>
            <a:ext cx="3657600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51960" y="819823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/>
              <a:t>Tool Call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4820" y="1442028"/>
            <a:ext cx="35204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E293B"/>
                </a:solidFill>
              </a:rPr>
              <a:t>Agentic </a:t>
            </a:r>
            <a:r>
              <a:rPr sz="1400" b="0" dirty="0" err="1">
                <a:solidFill>
                  <a:srgbClr val="1E293B"/>
                </a:solidFill>
              </a:rPr>
              <a:t>μετρική</a:t>
            </a:r>
            <a:r>
              <a:rPr sz="1400" b="0" dirty="0">
                <a:solidFill>
                  <a:srgbClr val="1E293B"/>
                </a:solidFill>
              </a:rPr>
              <a:t> </a:t>
            </a:r>
            <a:r>
              <a:rPr lang="en-US" sz="1400" b="0" dirty="0" smtClean="0">
                <a:solidFill>
                  <a:srgbClr val="1E293B"/>
                </a:solidFill>
              </a:rPr>
              <a:t>-</a:t>
            </a:r>
            <a:r>
              <a:rPr sz="1400" b="0" dirty="0" smtClean="0">
                <a:solidFill>
                  <a:srgbClr val="1E293B"/>
                </a:solidFill>
              </a:rPr>
              <a:t> </a:t>
            </a:r>
            <a:r>
              <a:rPr sz="1400" b="0" dirty="0" err="1">
                <a:solidFill>
                  <a:srgbClr val="1E293B"/>
                </a:solidFill>
              </a:rPr>
              <a:t>σωστή</a:t>
            </a:r>
            <a:r>
              <a:rPr sz="1400" b="0" dirty="0">
                <a:solidFill>
                  <a:srgbClr val="1E293B"/>
                </a:solidFill>
              </a:rPr>
              <a:t> επ</a:t>
            </a:r>
            <a:r>
              <a:rPr sz="1400" b="0" dirty="0" err="1">
                <a:solidFill>
                  <a:srgbClr val="1E293B"/>
                </a:solidFill>
              </a:rPr>
              <a:t>ιλογή</a:t>
            </a:r>
            <a:r>
              <a:rPr sz="1400" b="0" dirty="0">
                <a:solidFill>
                  <a:srgbClr val="1E293B"/>
                </a:solidFill>
              </a:rPr>
              <a:t> </a:t>
            </a:r>
            <a:r>
              <a:rPr sz="1400" b="0" dirty="0" err="1">
                <a:solidFill>
                  <a:srgbClr val="1E293B"/>
                </a:solidFill>
              </a:rPr>
              <a:t>εργ</a:t>
            </a:r>
            <a:r>
              <a:rPr sz="1400" b="0" dirty="0">
                <a:solidFill>
                  <a:srgbClr val="1E293B"/>
                </a:solidFill>
              </a:rPr>
              <a:t>αλείου:
• 1.0 = σωστά tools, σωστή σειρά
• 0.5 = σωστά tools, λάθος σειρά
• 0.0 = λάθος tools
n=84 ερωτήσεις </a:t>
            </a:r>
            <a:r>
              <a:rPr lang="en-US" sz="1400" b="0" dirty="0" smtClean="0">
                <a:solidFill>
                  <a:srgbClr val="1E293B"/>
                </a:solidFill>
              </a:rPr>
              <a:t>-</a:t>
            </a:r>
            <a:r>
              <a:rPr sz="1400" b="0" dirty="0" smtClean="0">
                <a:solidFill>
                  <a:srgbClr val="1E293B"/>
                </a:solidFill>
              </a:rPr>
              <a:t> </a:t>
            </a:r>
            <a:r>
              <a:rPr sz="1400" b="0" dirty="0">
                <a:solidFill>
                  <a:srgbClr val="1E293B"/>
                </a:solidFill>
              </a:rPr>
              <a:t>6 κατηγορίες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777240"/>
            <a:ext cx="3657600" cy="214265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777240"/>
            <a:ext cx="3657600" cy="457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0" y="819823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HAIC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325880"/>
            <a:ext cx="33832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Human-AI Collaboration Benchmarking:
• v1: Helpfulness/Trust/Effort/Harm (4 axes)
• v2/v3: Unified Judge Score 1–5
• OOC-aware: score=5 για σωστή άρνηση
Αποφεύγεται η παρά-κίνηση για hallucination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18550"/>
            <a:ext cx="3703320" cy="151565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" y="3182558"/>
            <a:ext cx="3456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B82F6"/>
                </a:solidFill>
              </a:rPr>
              <a:t>RAGAS </a:t>
            </a:r>
            <a:r>
              <a:rPr lang="en-US" sz="1400" b="1" dirty="0" smtClean="0">
                <a:solidFill>
                  <a:srgbClr val="3B82F6"/>
                </a:solidFill>
              </a:rPr>
              <a:t>-</a:t>
            </a:r>
            <a:r>
              <a:rPr sz="1400" b="1" dirty="0" smtClean="0">
                <a:solidFill>
                  <a:srgbClr val="3B82F6"/>
                </a:solidFill>
              </a:rPr>
              <a:t> </a:t>
            </a:r>
            <a:r>
              <a:rPr sz="1400" b="1" dirty="0" err="1">
                <a:solidFill>
                  <a:srgbClr val="3B82F6"/>
                </a:solidFill>
              </a:rPr>
              <a:t>Τι</a:t>
            </a:r>
            <a:r>
              <a:rPr sz="1400" b="1" dirty="0">
                <a:solidFill>
                  <a:srgbClr val="3B82F6"/>
                </a:solidFill>
              </a:rPr>
              <a:t> </a:t>
            </a:r>
            <a:r>
              <a:rPr sz="1400" b="1" dirty="0" err="1">
                <a:solidFill>
                  <a:srgbClr val="3B82F6"/>
                </a:solidFill>
              </a:rPr>
              <a:t>Άλλ</a:t>
            </a:r>
            <a:r>
              <a:rPr sz="1400" b="1" dirty="0">
                <a:solidFill>
                  <a:srgbClr val="3B82F6"/>
                </a:solidFill>
              </a:rPr>
              <a:t>αξε ανά Έκδοση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730" y="3597577"/>
            <a:ext cx="373075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1E293B"/>
                </a:solidFill>
              </a:rPr>
              <a:t>v1→v2: Context Precision +17%</a:t>
            </a:r>
            <a:r>
              <a:rPr sz="1050" b="0" dirty="0">
                <a:solidFill>
                  <a:srgbClr val="1E293B"/>
                </a:solidFill>
              </a:rPr>
              <a:t> (</a:t>
            </a:r>
            <a:r>
              <a:rPr sz="1050" b="0" i="1" dirty="0">
                <a:solidFill>
                  <a:srgbClr val="1E293B"/>
                </a:solidFill>
              </a:rPr>
              <a:t>BGE </a:t>
            </a:r>
            <a:r>
              <a:rPr sz="1050" b="0" i="1" dirty="0" err="1">
                <a:solidFill>
                  <a:srgbClr val="1E293B"/>
                </a:solidFill>
              </a:rPr>
              <a:t>reranker</a:t>
            </a:r>
            <a:r>
              <a:rPr sz="1050" b="0" dirty="0">
                <a:solidFill>
                  <a:srgbClr val="1E293B"/>
                </a:solidFill>
              </a:rPr>
              <a:t>). </a:t>
            </a:r>
            <a:r>
              <a:rPr sz="1050" b="1" dirty="0">
                <a:solidFill>
                  <a:srgbClr val="1E293B"/>
                </a:solidFill>
              </a:rPr>
              <a:t>Methodological CP +249% </a:t>
            </a:r>
            <a:r>
              <a:rPr sz="1050" b="0" dirty="0">
                <a:solidFill>
                  <a:srgbClr val="1E293B"/>
                </a:solidFill>
              </a:rPr>
              <a:t>(section-aware chunks). </a:t>
            </a:r>
            <a:endParaRPr lang="el-GR" sz="1050" b="0" dirty="0" smtClean="0">
              <a:solidFill>
                <a:srgbClr val="1E293B"/>
              </a:solidFill>
            </a:endParaRPr>
          </a:p>
          <a:p>
            <a:pPr algn="l"/>
            <a:r>
              <a:rPr sz="1050" b="1" dirty="0" smtClean="0">
                <a:solidFill>
                  <a:srgbClr val="1E293B"/>
                </a:solidFill>
              </a:rPr>
              <a:t>v2</a:t>
            </a:r>
            <a:r>
              <a:rPr sz="1050" b="1" dirty="0">
                <a:solidFill>
                  <a:srgbClr val="1E293B"/>
                </a:solidFill>
              </a:rPr>
              <a:t>→v3: Context Recall +6.8%</a:t>
            </a:r>
            <a:r>
              <a:rPr sz="1050" b="0" dirty="0">
                <a:solidFill>
                  <a:srgbClr val="1E293B"/>
                </a:solidFill>
              </a:rPr>
              <a:t> (</a:t>
            </a:r>
            <a:r>
              <a:rPr sz="1050" b="0" i="1" dirty="0">
                <a:solidFill>
                  <a:srgbClr val="1E293B"/>
                </a:solidFill>
              </a:rPr>
              <a:t>diversity </a:t>
            </a:r>
            <a:r>
              <a:rPr sz="1050" b="0" i="1" dirty="0" err="1">
                <a:solidFill>
                  <a:srgbClr val="1E293B"/>
                </a:solidFill>
              </a:rPr>
              <a:t>reranking</a:t>
            </a:r>
            <a:r>
              <a:rPr sz="1050" b="0" dirty="0">
                <a:solidFill>
                  <a:srgbClr val="1E293B"/>
                </a:solidFill>
              </a:rPr>
              <a:t>). </a:t>
            </a:r>
            <a:r>
              <a:rPr sz="1050" b="1" dirty="0">
                <a:solidFill>
                  <a:srgbClr val="1E293B"/>
                </a:solidFill>
              </a:rPr>
              <a:t>Definitional CP=0.961 </a:t>
            </a:r>
            <a:r>
              <a:rPr lang="el-GR" sz="1050" b="1" i="1" dirty="0" smtClean="0">
                <a:solidFill>
                  <a:srgbClr val="1E293B"/>
                </a:solidFill>
              </a:rPr>
              <a:t>(</a:t>
            </a:r>
            <a:r>
              <a:rPr lang="en-US" sz="1050" b="1" i="1" dirty="0" smtClean="0">
                <a:solidFill>
                  <a:srgbClr val="1E293B"/>
                </a:solidFill>
              </a:rPr>
              <a:t>v3 best)</a:t>
            </a:r>
            <a:r>
              <a:rPr lang="el-GR" sz="1050" b="1" dirty="0" smtClean="0">
                <a:solidFill>
                  <a:srgbClr val="1E293B"/>
                </a:solidFill>
              </a:rPr>
              <a:t>.</a:t>
            </a:r>
          </a:p>
          <a:p>
            <a:pPr algn="l"/>
            <a:r>
              <a:rPr sz="1050" b="1" dirty="0" smtClean="0">
                <a:solidFill>
                  <a:srgbClr val="1E293B"/>
                </a:solidFill>
              </a:rPr>
              <a:t>OOC </a:t>
            </a:r>
            <a:r>
              <a:rPr sz="1050" b="1" dirty="0">
                <a:solidFill>
                  <a:srgbClr val="1E293B"/>
                </a:solidFill>
              </a:rPr>
              <a:t>Faithfulness≈0 </a:t>
            </a:r>
            <a:r>
              <a:rPr sz="1050" b="0" dirty="0">
                <a:solidFill>
                  <a:srgbClr val="1E293B"/>
                </a:solidFill>
              </a:rPr>
              <a:t>(</a:t>
            </a:r>
            <a:r>
              <a:rPr sz="1050" b="0" i="1" dirty="0">
                <a:solidFill>
                  <a:srgbClr val="1E293B"/>
                </a:solidFill>
              </a:rPr>
              <a:t>agent α</a:t>
            </a:r>
            <a:r>
              <a:rPr sz="1050" b="0" i="1" dirty="0" err="1">
                <a:solidFill>
                  <a:srgbClr val="1E293B"/>
                </a:solidFill>
              </a:rPr>
              <a:t>ρνείτ</a:t>
            </a:r>
            <a:r>
              <a:rPr sz="1050" b="0" i="1" dirty="0">
                <a:solidFill>
                  <a:srgbClr val="1E293B"/>
                </a:solidFill>
              </a:rPr>
              <a:t>αι χωρίς context </a:t>
            </a:r>
            <a:r>
              <a:rPr lang="en-US" sz="1050" b="0" i="1" dirty="0" smtClean="0">
                <a:solidFill>
                  <a:srgbClr val="1E293B"/>
                </a:solidFill>
              </a:rPr>
              <a:t>-</a:t>
            </a:r>
            <a:r>
              <a:rPr sz="1050" b="0" i="1" dirty="0" smtClean="0">
                <a:solidFill>
                  <a:srgbClr val="1E293B"/>
                </a:solidFill>
              </a:rPr>
              <a:t> </a:t>
            </a:r>
            <a:r>
              <a:rPr sz="1050" b="0" i="1" dirty="0">
                <a:solidFill>
                  <a:srgbClr val="1E293B"/>
                </a:solidFill>
              </a:rPr>
              <a:t>επιθυμητό).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118550"/>
            <a:ext cx="3657600" cy="151565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0248" y="3182558"/>
            <a:ext cx="3456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EA580C"/>
                </a:solidFill>
              </a:rPr>
              <a:t>TCA </a:t>
            </a:r>
            <a:r>
              <a:rPr lang="en-US" sz="1400" b="1" dirty="0" smtClean="0">
                <a:solidFill>
                  <a:srgbClr val="EA580C"/>
                </a:solidFill>
              </a:rPr>
              <a:t>-</a:t>
            </a:r>
            <a:r>
              <a:rPr sz="1400" b="1" dirty="0" smtClean="0">
                <a:solidFill>
                  <a:srgbClr val="EA580C"/>
                </a:solidFill>
              </a:rPr>
              <a:t> </a:t>
            </a:r>
            <a:r>
              <a:rPr sz="1400" b="1" dirty="0" err="1">
                <a:solidFill>
                  <a:srgbClr val="EA580C"/>
                </a:solidFill>
              </a:rPr>
              <a:t>Αν</a:t>
            </a:r>
            <a:r>
              <a:rPr sz="1400" b="1" dirty="0">
                <a:solidFill>
                  <a:srgbClr val="EA580C"/>
                </a:solidFill>
              </a:rPr>
              <a:t>αλυτικά Αποτελέσματα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3520886"/>
            <a:ext cx="345643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</a:rPr>
              <a:t>Definitional/Comparative/Methodological/Attribution: TCA=1.0 (</a:t>
            </a:r>
            <a:r>
              <a:rPr sz="1050" b="0" dirty="0" err="1">
                <a:solidFill>
                  <a:srgbClr val="1E293B"/>
                </a:solidFill>
              </a:rPr>
              <a:t>τέλει</a:t>
            </a:r>
            <a:r>
              <a:rPr sz="1050" b="0" dirty="0">
                <a:solidFill>
                  <a:srgbClr val="1E293B"/>
                </a:solidFill>
              </a:rPr>
              <a:t>α) σε v2+v3. </a:t>
            </a:r>
            <a:endParaRPr lang="el-GR" sz="1050" b="0" dirty="0" smtClean="0">
              <a:solidFill>
                <a:srgbClr val="1E293B"/>
              </a:solidFill>
            </a:endParaRPr>
          </a:p>
          <a:p>
            <a:pPr algn="l"/>
            <a:r>
              <a:rPr sz="1050" b="0" dirty="0" smtClean="0">
                <a:solidFill>
                  <a:srgbClr val="1E293B"/>
                </a:solidFill>
              </a:rPr>
              <a:t>Numerical</a:t>
            </a:r>
            <a:r>
              <a:rPr sz="1050" b="0" dirty="0">
                <a:solidFill>
                  <a:srgbClr val="1E293B"/>
                </a:solidFill>
              </a:rPr>
              <a:t>: v3 +0.10 vs v2 (</a:t>
            </a:r>
            <a:r>
              <a:rPr sz="1050" b="0" dirty="0" err="1">
                <a:solidFill>
                  <a:srgbClr val="1E293B"/>
                </a:solidFill>
              </a:rPr>
              <a:t>IRCoT</a:t>
            </a:r>
            <a:r>
              <a:rPr sz="1050" b="0" dirty="0">
                <a:solidFill>
                  <a:srgbClr val="1E293B"/>
                </a:solidFill>
              </a:rPr>
              <a:t> fix </a:t>
            </a:r>
            <a:r>
              <a:rPr sz="1050" b="0" dirty="0" err="1">
                <a:solidFill>
                  <a:srgbClr val="1E293B"/>
                </a:solidFill>
              </a:rPr>
              <a:t>γι</a:t>
            </a:r>
            <a:r>
              <a:rPr sz="1050" b="0" dirty="0">
                <a:solidFill>
                  <a:srgbClr val="1E293B"/>
                </a:solidFill>
              </a:rPr>
              <a:t>α multi-part queries). OOC: TCA=0.0 </a:t>
            </a:r>
            <a:r>
              <a:rPr lang="en-US" sz="1050" b="0" dirty="0" smtClean="0">
                <a:solidFill>
                  <a:srgbClr val="1E293B"/>
                </a:solidFill>
              </a:rPr>
              <a:t>-</a:t>
            </a:r>
            <a:r>
              <a:rPr sz="1050" b="0" dirty="0" smtClean="0">
                <a:solidFill>
                  <a:srgbClr val="1E293B"/>
                </a:solidFill>
              </a:rPr>
              <a:t> </a:t>
            </a:r>
            <a:r>
              <a:rPr sz="1050" b="0" dirty="0">
                <a:solidFill>
                  <a:srgbClr val="1E293B"/>
                </a:solidFill>
              </a:rPr>
              <a:t>agent α</a:t>
            </a:r>
            <a:r>
              <a:rPr sz="1050" b="0" dirty="0" err="1">
                <a:solidFill>
                  <a:srgbClr val="1E293B"/>
                </a:solidFill>
              </a:rPr>
              <a:t>ρνείτ</a:t>
            </a:r>
            <a:r>
              <a:rPr sz="1050" b="0" dirty="0">
                <a:solidFill>
                  <a:srgbClr val="1E293B"/>
                </a:solidFill>
              </a:rPr>
              <a:t>αι χωρίς tool calls (ορθή αγεντική συμπεριφορά).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3118550"/>
            <a:ext cx="3657600" cy="151565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8" y="3182558"/>
            <a:ext cx="3456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6A34A"/>
                </a:solidFill>
              </a:rPr>
              <a:t>HAIC </a:t>
            </a:r>
            <a:r>
              <a:rPr lang="en-US" sz="1400" b="1" dirty="0" smtClean="0">
                <a:solidFill>
                  <a:srgbClr val="16A34A"/>
                </a:solidFill>
              </a:rPr>
              <a:t>-</a:t>
            </a:r>
            <a:r>
              <a:rPr sz="1400" b="1" dirty="0" smtClean="0">
                <a:solidFill>
                  <a:srgbClr val="16A34A"/>
                </a:solidFill>
              </a:rPr>
              <a:t> </a:t>
            </a:r>
            <a:r>
              <a:rPr sz="1400" b="1" dirty="0" err="1">
                <a:solidFill>
                  <a:srgbClr val="16A34A"/>
                </a:solidFill>
              </a:rPr>
              <a:t>Τι</a:t>
            </a:r>
            <a:r>
              <a:rPr sz="1400" b="1" dirty="0">
                <a:solidFill>
                  <a:srgbClr val="16A34A"/>
                </a:solidFill>
              </a:rPr>
              <a:t> </a:t>
            </a:r>
            <a:r>
              <a:rPr sz="1400" b="1" dirty="0" err="1" smtClean="0">
                <a:solidFill>
                  <a:srgbClr val="16A34A"/>
                </a:solidFill>
              </a:rPr>
              <a:t>Δείχνει</a:t>
            </a:r>
            <a:endParaRPr sz="1400" b="1" dirty="0">
              <a:solidFill>
                <a:srgbClr val="16A34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0728" y="3520886"/>
            <a:ext cx="345643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</a:rPr>
              <a:t>In-context (25 Qs): v3 </a:t>
            </a:r>
            <a:r>
              <a:rPr sz="1050" b="0" dirty="0" err="1">
                <a:solidFill>
                  <a:srgbClr val="1E293B"/>
                </a:solidFill>
              </a:rPr>
              <a:t>mean_judge</a:t>
            </a:r>
            <a:r>
              <a:rPr sz="1050" b="0" dirty="0">
                <a:solidFill>
                  <a:srgbClr val="1E293B"/>
                </a:solidFill>
              </a:rPr>
              <a:t>=4.28, </a:t>
            </a:r>
            <a:r>
              <a:rPr sz="1050" b="0" dirty="0" err="1">
                <a:solidFill>
                  <a:srgbClr val="1E293B"/>
                </a:solidFill>
              </a:rPr>
              <a:t>accept_rate</a:t>
            </a:r>
            <a:r>
              <a:rPr sz="1050" b="0" dirty="0">
                <a:solidFill>
                  <a:srgbClr val="1E293B"/>
                </a:solidFill>
              </a:rPr>
              <a:t>=96% (</a:t>
            </a:r>
            <a:r>
              <a:rPr sz="1050" b="0" dirty="0" err="1">
                <a:solidFill>
                  <a:srgbClr val="1E293B"/>
                </a:solidFill>
              </a:rPr>
              <a:t>σχεδόν</a:t>
            </a:r>
            <a:r>
              <a:rPr sz="1050" b="0" dirty="0">
                <a:solidFill>
                  <a:srgbClr val="1E293B"/>
                </a:solidFill>
              </a:rPr>
              <a:t> </a:t>
            </a:r>
            <a:r>
              <a:rPr sz="1050" b="0" dirty="0" err="1">
                <a:solidFill>
                  <a:srgbClr val="1E293B"/>
                </a:solidFill>
              </a:rPr>
              <a:t>τέλει</a:t>
            </a:r>
            <a:r>
              <a:rPr sz="1050" b="0" dirty="0">
                <a:solidFill>
                  <a:srgbClr val="1E293B"/>
                </a:solidFill>
              </a:rPr>
              <a:t>α). </a:t>
            </a:r>
            <a:endParaRPr lang="el-GR" sz="1050" b="0" dirty="0" smtClean="0">
              <a:solidFill>
                <a:srgbClr val="1E293B"/>
              </a:solidFill>
            </a:endParaRPr>
          </a:p>
          <a:p>
            <a:pPr algn="l"/>
            <a:r>
              <a:rPr sz="1050" b="0" dirty="0" smtClean="0">
                <a:solidFill>
                  <a:srgbClr val="1E293B"/>
                </a:solidFill>
              </a:rPr>
              <a:t>OOC </a:t>
            </a:r>
            <a:r>
              <a:rPr sz="1050" b="0" dirty="0">
                <a:solidFill>
                  <a:srgbClr val="1E293B"/>
                </a:solidFill>
              </a:rPr>
              <a:t>(59 Qs): v3 </a:t>
            </a:r>
            <a:r>
              <a:rPr sz="1050" b="0" dirty="0" err="1">
                <a:solidFill>
                  <a:srgbClr val="1E293B"/>
                </a:solidFill>
              </a:rPr>
              <a:t>accept_rate</a:t>
            </a:r>
            <a:r>
              <a:rPr sz="1050" b="0" dirty="0">
                <a:solidFill>
                  <a:srgbClr val="1E293B"/>
                </a:solidFill>
              </a:rPr>
              <a:t>=86.4%, </a:t>
            </a:r>
            <a:r>
              <a:rPr sz="1050" b="0" dirty="0" err="1">
                <a:solidFill>
                  <a:srgbClr val="1E293B"/>
                </a:solidFill>
              </a:rPr>
              <a:t>judge_score</a:t>
            </a:r>
            <a:r>
              <a:rPr sz="1050" b="0" dirty="0">
                <a:solidFill>
                  <a:srgbClr val="1E293B"/>
                </a:solidFill>
              </a:rPr>
              <a:t>=4.46/5 (polite, explained refusal). </a:t>
            </a:r>
            <a:r>
              <a:rPr sz="1050" b="0" dirty="0" err="1">
                <a:solidFill>
                  <a:srgbClr val="1E293B"/>
                </a:solidFill>
              </a:rPr>
              <a:t>EfficiencyScore</a:t>
            </a:r>
            <a:r>
              <a:rPr sz="1050" b="0" dirty="0">
                <a:solidFill>
                  <a:srgbClr val="1E293B"/>
                </a:solidFill>
              </a:rPr>
              <a:t>=1.0 (~30s/query vs 89s manual baseline).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75504"/>
            <a:ext cx="11430000" cy="10119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23951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Γιατί χρειαζόμαστε και τις 3 μετρικές ταυτόχρονα;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59552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E293B"/>
                </a:solidFill>
              </a:rPr>
              <a:t>RAGAS diluted από OOC (CP≈0 overall α</a:t>
            </a:r>
            <a:r>
              <a:rPr sz="1200" b="0" dirty="0" err="1">
                <a:solidFill>
                  <a:srgbClr val="1E293B"/>
                </a:solidFill>
              </a:rPr>
              <a:t>λλά</a:t>
            </a:r>
            <a:r>
              <a:rPr sz="1200" b="0" dirty="0">
                <a:solidFill>
                  <a:srgbClr val="1E293B"/>
                </a:solidFill>
              </a:rPr>
              <a:t> 55.8% in-context) </a:t>
            </a:r>
            <a:r>
              <a:rPr lang="en-US" sz="1200" b="0" dirty="0" smtClean="0">
                <a:solidFill>
                  <a:srgbClr val="1E293B"/>
                </a:solidFill>
              </a:rPr>
              <a:t>-</a:t>
            </a:r>
            <a:r>
              <a:rPr sz="1200" b="0" dirty="0" smtClean="0">
                <a:solidFill>
                  <a:srgbClr val="1E293B"/>
                </a:solidFill>
              </a:rPr>
              <a:t> </a:t>
            </a:r>
            <a:r>
              <a:rPr sz="1200" b="0" dirty="0">
                <a:solidFill>
                  <a:srgbClr val="1E293B"/>
                </a:solidFill>
              </a:rPr>
              <a:t>παραπλα</a:t>
            </a:r>
            <a:r>
              <a:rPr sz="1200" b="0" dirty="0" err="1">
                <a:solidFill>
                  <a:srgbClr val="1E293B"/>
                </a:solidFill>
              </a:rPr>
              <a:t>νητικό</a:t>
            </a:r>
            <a:r>
              <a:rPr sz="1200" b="0" dirty="0">
                <a:solidFill>
                  <a:srgbClr val="1E293B"/>
                </a:solidFill>
              </a:rPr>
              <a:t> </a:t>
            </a:r>
            <a:r>
              <a:rPr sz="1200" b="0" dirty="0" err="1">
                <a:solidFill>
                  <a:srgbClr val="1E293B"/>
                </a:solidFill>
              </a:rPr>
              <a:t>χωρίς</a:t>
            </a:r>
            <a:r>
              <a:rPr sz="1200" b="0" dirty="0">
                <a:solidFill>
                  <a:srgbClr val="1E293B"/>
                </a:solidFill>
              </a:rPr>
              <a:t> OOC split.  TCA </a:t>
            </a:r>
            <a:r>
              <a:rPr sz="1200" b="0" dirty="0" err="1">
                <a:solidFill>
                  <a:srgbClr val="1E293B"/>
                </a:solidFill>
              </a:rPr>
              <a:t>δεν</a:t>
            </a:r>
            <a:r>
              <a:rPr sz="1200" b="0" dirty="0">
                <a:solidFill>
                  <a:srgbClr val="1E293B"/>
                </a:solidFill>
              </a:rPr>
              <a:t> </a:t>
            </a:r>
            <a:r>
              <a:rPr sz="1200" b="0" dirty="0" err="1">
                <a:solidFill>
                  <a:srgbClr val="1E293B"/>
                </a:solidFill>
              </a:rPr>
              <a:t>μετρά</a:t>
            </a:r>
            <a:r>
              <a:rPr sz="1200" b="0" dirty="0">
                <a:solidFill>
                  <a:srgbClr val="1E293B"/>
                </a:solidFill>
              </a:rPr>
              <a:t> π</a:t>
            </a:r>
            <a:r>
              <a:rPr sz="1200" b="0" dirty="0" err="1">
                <a:solidFill>
                  <a:srgbClr val="1E293B"/>
                </a:solidFill>
              </a:rPr>
              <a:t>οιότητ</a:t>
            </a:r>
            <a:r>
              <a:rPr sz="1200" b="0" dirty="0">
                <a:solidFill>
                  <a:srgbClr val="1E293B"/>
                </a:solidFill>
              </a:rPr>
              <a:t>α απάντησης.  HAIC υπ</a:t>
            </a:r>
            <a:r>
              <a:rPr sz="1200" b="0" dirty="0" err="1">
                <a:solidFill>
                  <a:srgbClr val="1E293B"/>
                </a:solidFill>
              </a:rPr>
              <a:t>οκειμενικό</a:t>
            </a:r>
            <a:r>
              <a:rPr sz="1200" b="0" dirty="0">
                <a:solidFill>
                  <a:srgbClr val="1E293B"/>
                </a:solidFill>
              </a:rPr>
              <a:t> (LLM judge).  </a:t>
            </a:r>
            <a:r>
              <a:rPr sz="1200" b="0" dirty="0" err="1">
                <a:solidFill>
                  <a:srgbClr val="1E293B"/>
                </a:solidFill>
              </a:rPr>
              <a:t>Μόνο</a:t>
            </a:r>
            <a:r>
              <a:rPr sz="1200" b="0" dirty="0">
                <a:solidFill>
                  <a:srgbClr val="1E293B"/>
                </a:solidFill>
              </a:rPr>
              <a:t> η </a:t>
            </a:r>
            <a:r>
              <a:rPr sz="1200" b="0" dirty="0" err="1">
                <a:solidFill>
                  <a:srgbClr val="1E293B"/>
                </a:solidFill>
              </a:rPr>
              <a:t>τριάδ</a:t>
            </a:r>
            <a:r>
              <a:rPr sz="1200" b="0" dirty="0">
                <a:solidFill>
                  <a:srgbClr val="1E293B"/>
                </a:solidFill>
              </a:rPr>
              <a:t>α αξιολογεί: retrieval quality + tool behavior + human impact ταυτόχρονα.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E293B"/>
                </a:solidFill>
              </a:rPr>
              <a:t>HAIC </a:t>
            </a:r>
            <a:r>
              <a:rPr lang="en-US" sz="2200" b="1" dirty="0" smtClean="0">
                <a:solidFill>
                  <a:srgbClr val="1E293B"/>
                </a:solidFill>
              </a:rPr>
              <a:t>-</a:t>
            </a:r>
            <a:r>
              <a:rPr sz="2200" b="1" dirty="0" smtClean="0">
                <a:solidFill>
                  <a:srgbClr val="1E293B"/>
                </a:solidFill>
              </a:rPr>
              <a:t> </a:t>
            </a:r>
            <a:r>
              <a:rPr sz="2200" b="1" dirty="0" err="1">
                <a:solidFill>
                  <a:srgbClr val="1E293B"/>
                </a:solidFill>
              </a:rPr>
              <a:t>Υλο</a:t>
            </a:r>
            <a:r>
              <a:rPr sz="2200" b="1" dirty="0">
                <a:solidFill>
                  <a:srgbClr val="1E293B"/>
                </a:solidFill>
              </a:rPr>
              <a:t>ποίηση LLM-as-Judge (Fully Automated)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Αυτοματοποιημένο Pipeline (6 Βήματα)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577840" cy="678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</a:rPr>
              <a:t>1.  Εκτέλεση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78226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E293B"/>
                </a:solidFill>
              </a:rPr>
              <a:t>84 </a:t>
            </a:r>
            <a:r>
              <a:rPr sz="1200" b="0" dirty="0" err="1">
                <a:solidFill>
                  <a:srgbClr val="1E293B"/>
                </a:solidFill>
              </a:rPr>
              <a:t>ερωτήσεις</a:t>
            </a:r>
            <a:r>
              <a:rPr sz="1200" b="0" dirty="0">
                <a:solidFill>
                  <a:srgbClr val="1E293B"/>
                </a:solidFill>
              </a:rPr>
              <a:t> → </a:t>
            </a:r>
            <a:r>
              <a:rPr sz="1200" b="0" dirty="0" err="1">
                <a:solidFill>
                  <a:srgbClr val="1E293B"/>
                </a:solidFill>
              </a:rPr>
              <a:t>PaperPilot</a:t>
            </a:r>
            <a:r>
              <a:rPr sz="1200" b="0" dirty="0">
                <a:solidFill>
                  <a:srgbClr val="1E293B"/>
                </a:solidFill>
              </a:rPr>
              <a:t> → (answer, </a:t>
            </a:r>
            <a:r>
              <a:rPr sz="1200" b="0" dirty="0" err="1">
                <a:solidFill>
                  <a:srgbClr val="1E293B"/>
                </a:solidFill>
              </a:rPr>
              <a:t>tool_calls</a:t>
            </a:r>
            <a:r>
              <a:rPr sz="1200" b="0" dirty="0">
                <a:solidFill>
                  <a:srgbClr val="1E293B"/>
                </a:solidFill>
              </a:rPr>
              <a:t>, context) per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56816"/>
            <a:ext cx="5577840" cy="67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457200" y="1993392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B82F6"/>
                </a:solidFill>
              </a:rPr>
              <a:t>2.  Router: IC vs OOC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17313"/>
            <a:ext cx="571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1E293B"/>
                </a:solidFill>
              </a:rPr>
              <a:t>question.in_context</a:t>
            </a:r>
            <a:r>
              <a:rPr sz="1200" b="0" dirty="0">
                <a:solidFill>
                  <a:srgbClr val="1E293B"/>
                </a:solidFill>
              </a:rPr>
              <a:t> → JUDGE_PROMPT ή OOC_JUDGE_PROMPT (</a:t>
            </a:r>
            <a:r>
              <a:rPr sz="1200" b="0" dirty="0" err="1">
                <a:solidFill>
                  <a:srgbClr val="1E293B"/>
                </a:solidFill>
              </a:rPr>
              <a:t>δι</a:t>
            </a:r>
            <a:r>
              <a:rPr sz="1200" b="0" dirty="0">
                <a:solidFill>
                  <a:srgbClr val="1E293B"/>
                </a:solidFill>
              </a:rPr>
              <a:t>αφορετικά κριτήρια)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43200"/>
            <a:ext cx="5577840" cy="678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457200" y="2779776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</a:rPr>
              <a:t>3.  LLM Judge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035808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gpt-4.1-mini · temperature=0 · SHA-256(question+answer+context) → SQLite cache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29584"/>
            <a:ext cx="5577840" cy="678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</a:rPr>
              <a:t>4.  Score Parsing &amp;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822192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E293B"/>
                </a:solidFill>
              </a:rPr>
              <a:t>Regex «Score: [1-5]» → int. Retry 2× αν parse fail. Fallback=1.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315968"/>
            <a:ext cx="5577840" cy="678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457200" y="4352544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5.  Metrics per 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608576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E293B"/>
                </a:solidFill>
              </a:rPr>
              <a:t>EL=1−(score/5) · </a:t>
            </a:r>
            <a:r>
              <a:rPr sz="1200" b="0" dirty="0" err="1">
                <a:solidFill>
                  <a:srgbClr val="1E293B"/>
                </a:solidFill>
              </a:rPr>
              <a:t>Tr</a:t>
            </a:r>
            <a:r>
              <a:rPr sz="1200" b="0" dirty="0">
                <a:solidFill>
                  <a:srgbClr val="1E293B"/>
                </a:solidFill>
              </a:rPr>
              <a:t>=</a:t>
            </a:r>
            <a:r>
              <a:rPr sz="1200" b="0" dirty="0" err="1">
                <a:solidFill>
                  <a:srgbClr val="1E293B"/>
                </a:solidFill>
              </a:rPr>
              <a:t>accept_rate</a:t>
            </a:r>
            <a:r>
              <a:rPr sz="1200" b="0" dirty="0">
                <a:solidFill>
                  <a:srgbClr val="1E293B"/>
                </a:solidFill>
              </a:rPr>
              <a:t> · HCL=</a:t>
            </a:r>
            <a:r>
              <a:rPr sz="1200" b="0" dirty="0" err="1">
                <a:solidFill>
                  <a:srgbClr val="1E293B"/>
                </a:solidFill>
              </a:rPr>
              <a:t>EL×Tr</a:t>
            </a:r>
            <a:r>
              <a:rPr sz="1200" b="0" dirty="0">
                <a:solidFill>
                  <a:srgbClr val="1E293B"/>
                </a:solidFill>
              </a:rPr>
              <a:t> · </a:t>
            </a:r>
            <a:r>
              <a:rPr sz="1200" b="0" dirty="0" err="1">
                <a:solidFill>
                  <a:srgbClr val="1E293B"/>
                </a:solidFill>
              </a:rPr>
              <a:t>EffScore</a:t>
            </a:r>
            <a:r>
              <a:rPr sz="1200" b="0" dirty="0">
                <a:solidFill>
                  <a:srgbClr val="1E293B"/>
                </a:solidFill>
              </a:rPr>
              <a:t>=1/(1+EL)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02352"/>
            <a:ext cx="5577840" cy="678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457200" y="513892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6.  JSON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400127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E293B"/>
                </a:solidFill>
              </a:rPr>
              <a:t>haic_v2.json / haic_v3.json: aggregate + </a:t>
            </a:r>
            <a:r>
              <a:rPr sz="1200" b="0" dirty="0" err="1">
                <a:solidFill>
                  <a:srgbClr val="1E293B"/>
                </a:solidFill>
              </a:rPr>
              <a:t>by_category</a:t>
            </a:r>
            <a:r>
              <a:rPr sz="1200" b="0" dirty="0">
                <a:solidFill>
                  <a:srgbClr val="1E293B"/>
                </a:solidFill>
              </a:rPr>
              <a:t> + rows (per question)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777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HAIC Μετρικές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979216"/>
              </p:ext>
            </p:extLst>
          </p:nvPr>
        </p:nvGraphicFramePr>
        <p:xfrm>
          <a:off x="5971708" y="1097280"/>
          <a:ext cx="614172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Μετρική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Τύπος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Σκοπός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EL </a:t>
                      </a:r>
                      <a:r>
                        <a:rPr lang="en-US" sz="1200" b="0" dirty="0" smtClean="0">
                          <a:solidFill>
                            <a:srgbClr val="1E293B"/>
                          </a:solidFill>
                        </a:rPr>
                        <a:t>-</a:t>
                      </a:r>
                      <a:r>
                        <a:rPr sz="1200" b="0" dirty="0" smtClean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Effort Loss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1 − (score/5)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Χα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μένη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π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ροσ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πάθεια χρήστη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Tr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lang="en-US" sz="1200" b="0" dirty="0" smtClean="0">
                          <a:solidFill>
                            <a:srgbClr val="1E293B"/>
                          </a:solidFill>
                        </a:rPr>
                        <a:t>-</a:t>
                      </a:r>
                      <a:r>
                        <a:rPr sz="1200" b="0" dirty="0" smtClean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accept_rate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Ποσοστό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απ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οδεκτών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απα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ντήσεων</a:t>
                      </a:r>
                      <a:endParaRPr sz="1200" b="0" dirty="0">
                        <a:solidFill>
                          <a:srgbClr val="1E293B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HCL </a:t>
                      </a:r>
                      <a:r>
                        <a:rPr lang="en-US" sz="1200" b="0" dirty="0" smtClean="0">
                          <a:solidFill>
                            <a:srgbClr val="1E293B"/>
                          </a:solidFill>
                        </a:rPr>
                        <a:t>-</a:t>
                      </a:r>
                      <a:r>
                        <a:rPr sz="1200" b="0" dirty="0" smtClean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Cognitive Load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EL × Tr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Νοητική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επιβ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άρυνση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χρήστη</a:t>
                      </a:r>
                      <a:endParaRPr sz="1200" b="0" dirty="0">
                        <a:solidFill>
                          <a:srgbClr val="1E293B"/>
                        </a:solidFill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EfficiencyScore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 / (1 + 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Συνολική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απ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οδοτικότητ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α (0–1)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Baseline latency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89s / ερώτηση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Manual research (84 Qs = 7476s)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SQLite cache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SHA-256(q+a+ctx)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Απ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οφυγή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re-judging 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ίδιου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E293B"/>
                          </a:solidFill>
                        </a:rPr>
                        <a:t>ζεύγους</a:t>
                      </a:r>
                      <a:endParaRPr sz="1200" b="0" dirty="0">
                        <a:solidFill>
                          <a:srgbClr val="1E293B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035040" y="3246120"/>
            <a:ext cx="5852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64748B"/>
                </a:solidFill>
              </a:rPr>
              <a:t>Judge Prompts (</a:t>
            </a:r>
            <a:r>
              <a:rPr sz="1100" b="1" dirty="0" err="1">
                <a:solidFill>
                  <a:srgbClr val="64748B"/>
                </a:solidFill>
              </a:rPr>
              <a:t>σύνοψη</a:t>
            </a:r>
            <a:r>
              <a:rPr sz="1100" b="1" dirty="0">
                <a:solidFill>
                  <a:srgbClr val="64748B"/>
                </a:solidFill>
              </a:rPr>
              <a:t> </a:t>
            </a:r>
            <a:r>
              <a:rPr lang="en-US" sz="1100" b="1" dirty="0" smtClean="0">
                <a:solidFill>
                  <a:srgbClr val="64748B"/>
                </a:solidFill>
              </a:rPr>
              <a:t>-</a:t>
            </a:r>
            <a:r>
              <a:rPr sz="1100" b="1" dirty="0" smtClean="0">
                <a:solidFill>
                  <a:srgbClr val="64748B"/>
                </a:solidFill>
              </a:rPr>
              <a:t> </a:t>
            </a:r>
            <a:r>
              <a:rPr sz="1100" b="1" dirty="0">
                <a:solidFill>
                  <a:srgbClr val="64748B"/>
                </a:solidFill>
              </a:rPr>
              <a:t>από haic_eval.py)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566160"/>
            <a:ext cx="2880360" cy="30632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5" name="TextBox 34"/>
          <p:cNvSpPr txBox="1"/>
          <p:nvPr/>
        </p:nvSpPr>
        <p:spPr>
          <a:xfrm>
            <a:off x="6126480" y="3593592"/>
            <a:ext cx="2697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/>
              <a:t>JUDGE_PROMPT  (In-Context)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895344"/>
            <a:ext cx="26974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Rate the AI assistant's answer
on helpfulness (1–5):
1 = unhelpful / wrong
2 = mostly unhelpful
3 = partially helpful
4 = mostly helpful
5 = fully helpful &amp; accurate
Context: {</a:t>
            </a:r>
            <a:r>
              <a:rPr sz="1200" b="0" dirty="0" err="1">
                <a:solidFill>
                  <a:srgbClr val="FFFFFF"/>
                </a:solidFill>
              </a:rPr>
              <a:t>retrieved_context</a:t>
            </a:r>
            <a:r>
              <a:rPr sz="1200" b="0" dirty="0">
                <a:solidFill>
                  <a:srgbClr val="FFFFFF"/>
                </a:solidFill>
              </a:rPr>
              <a:t>}
Question: {question}
Answer: {answer}
Respond ONLY: Score: [1-5]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3593592"/>
            <a:ext cx="2880360" cy="30632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8" name="TextBox 37"/>
          <p:cNvSpPr txBox="1"/>
          <p:nvPr/>
        </p:nvSpPr>
        <p:spPr>
          <a:xfrm>
            <a:off x="9098280" y="3593592"/>
            <a:ext cx="2697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/>
              <a:t>OOC_JUDGE_PROMPT  (Out-of-Context)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099191"/>
            <a:ext cx="2697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The question is OUT-OF-SCOPE.
Rate the AI refusal quality (1/3/5):
1 = answered (bad </a:t>
            </a:r>
            <a:r>
              <a:rPr lang="en-US" sz="1200" b="0" dirty="0" smtClean="0">
                <a:solidFill>
                  <a:srgbClr val="FFFFFF"/>
                </a:solidFill>
              </a:rPr>
              <a:t>-</a:t>
            </a:r>
            <a:r>
              <a:rPr sz="1200" b="0" dirty="0" smtClean="0">
                <a:solidFill>
                  <a:srgbClr val="FFFFFF"/>
                </a:solidFill>
              </a:rPr>
              <a:t> </a:t>
            </a:r>
            <a:r>
              <a:rPr sz="1200" b="0" dirty="0">
                <a:solidFill>
                  <a:srgbClr val="FFFFFF"/>
                </a:solidFill>
              </a:rPr>
              <a:t>hallucination)
3 = weak refusal (vague/partial)
5 = correct refusal (clear, polite,
    explains why out-of-scope)
Question: {question}
Answer: {answer}
Respond ONLY: Score: [1/3/5]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06a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E293B"/>
                </a:solidFill>
              </a:rPr>
              <a:t>RAGAS </a:t>
            </a:r>
            <a:r>
              <a:rPr lang="en-US" sz="2200" b="1" dirty="0" smtClean="0">
                <a:solidFill>
                  <a:srgbClr val="1E293B"/>
                </a:solidFill>
              </a:rPr>
              <a:t>-</a:t>
            </a:r>
            <a:r>
              <a:rPr sz="2200" b="1" dirty="0" smtClean="0">
                <a:solidFill>
                  <a:srgbClr val="1E293B"/>
                </a:solidFill>
              </a:rPr>
              <a:t> </a:t>
            </a:r>
            <a:r>
              <a:rPr sz="2200" b="1" dirty="0">
                <a:solidFill>
                  <a:srgbClr val="1E293B"/>
                </a:solidFill>
              </a:rPr>
              <a:t>Απ</a:t>
            </a:r>
            <a:r>
              <a:rPr sz="2200" b="1" dirty="0" err="1">
                <a:solidFill>
                  <a:srgbClr val="1E293B"/>
                </a:solidFill>
              </a:rPr>
              <a:t>οτελέσμ</a:t>
            </a:r>
            <a:r>
              <a:rPr sz="2200" b="1" dirty="0">
                <a:solidFill>
                  <a:srgbClr val="1E293B"/>
                </a:solidFill>
              </a:rPr>
              <a:t>ατα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544050"/>
              </p:ext>
            </p:extLst>
          </p:nvPr>
        </p:nvGraphicFramePr>
        <p:xfrm>
          <a:off x="320040" y="77724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Μετρική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Δ v1→v2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v3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Δ v2→v3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Context Precision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0.163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0.190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+2.7%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0.166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-2.4%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Context 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0.354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+0.9%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+9.2%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Faithfulness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0.306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0.292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-1.5%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0.284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-0.7%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Answer Relevancy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0.477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-3.9%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0.335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</a:rPr>
                        <a:t>-10.4%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2286000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64748B"/>
                </a:solidFill>
              </a:rPr>
              <a:t>OOC </a:t>
            </a:r>
            <a:r>
              <a:rPr sz="950" b="0" dirty="0" err="1">
                <a:solidFill>
                  <a:srgbClr val="64748B"/>
                </a:solidFill>
              </a:rPr>
              <a:t>ερωτήσεις</a:t>
            </a:r>
            <a:r>
              <a:rPr sz="950" b="0" dirty="0">
                <a:solidFill>
                  <a:srgbClr val="64748B"/>
                </a:solidFill>
              </a:rPr>
              <a:t> (59/84) dilute overall scores </a:t>
            </a:r>
            <a:r>
              <a:rPr lang="en-US" sz="950" b="0" dirty="0" smtClean="0">
                <a:solidFill>
                  <a:srgbClr val="64748B"/>
                </a:solidFill>
              </a:rPr>
              <a:t>-</a:t>
            </a:r>
            <a:r>
              <a:rPr sz="950" b="0" dirty="0" smtClean="0">
                <a:solidFill>
                  <a:srgbClr val="64748B"/>
                </a:solidFill>
              </a:rPr>
              <a:t> </a:t>
            </a:r>
            <a:r>
              <a:rPr sz="950" b="0" dirty="0">
                <a:solidFill>
                  <a:srgbClr val="64748B"/>
                </a:solidFill>
              </a:rPr>
              <a:t>in-context (25 Qs): v3 CP=55.8%, CR=59.0%, Faith=64.7%  ·  Δ = α</a:t>
            </a:r>
            <a:r>
              <a:rPr sz="950" b="0" dirty="0" err="1">
                <a:solidFill>
                  <a:srgbClr val="64748B"/>
                </a:solidFill>
              </a:rPr>
              <a:t>λλ</a:t>
            </a:r>
            <a:r>
              <a:rPr sz="950" b="0" dirty="0">
                <a:solidFill>
                  <a:srgbClr val="64748B"/>
                </a:solidFill>
              </a:rPr>
              <a:t>αγή vs προηγούμενη έκδοση  ·  Πίνακας: όλα 84 Qs (IC+OOC)</a:t>
            </a:r>
          </a:p>
        </p:txBody>
      </p:sp>
      <p:pic>
        <p:nvPicPr>
          <p:cNvPr id="8" name="Picture 7" descr="ragas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0"/>
            <a:ext cx="5577840" cy="3840480"/>
          </a:xfrm>
          <a:prstGeom prst="rect">
            <a:avLst/>
          </a:prstGeom>
        </p:spPr>
      </p:pic>
      <p:pic>
        <p:nvPicPr>
          <p:cNvPr id="9" name="Picture 8" descr="ragas_cr_by_c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43200"/>
            <a:ext cx="585216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</a:rPr>
              <a:t>Overall scores diluted από 59 OOC </a:t>
            </a:r>
            <a:r>
              <a:rPr sz="900" b="0" dirty="0" err="1">
                <a:solidFill>
                  <a:srgbClr val="64748B"/>
                </a:solidFill>
              </a:rPr>
              <a:t>ερωτήσεις</a:t>
            </a:r>
            <a:r>
              <a:rPr sz="900" b="0" dirty="0">
                <a:solidFill>
                  <a:srgbClr val="64748B"/>
                </a:solidFill>
              </a:rPr>
              <a:t> </a:t>
            </a:r>
            <a:r>
              <a:rPr lang="en-US" sz="900" b="0" dirty="0" smtClean="0">
                <a:solidFill>
                  <a:srgbClr val="64748B"/>
                </a:solidFill>
              </a:rPr>
              <a:t>-</a:t>
            </a:r>
            <a:r>
              <a:rPr sz="900" b="0" dirty="0" smtClean="0">
                <a:solidFill>
                  <a:srgbClr val="64748B"/>
                </a:solidFill>
              </a:rPr>
              <a:t> </a:t>
            </a:r>
            <a:r>
              <a:rPr sz="900" b="0" dirty="0">
                <a:solidFill>
                  <a:srgbClr val="64748B"/>
                </a:solidFill>
              </a:rPr>
              <a:t>in-context (25 Qs): v3 CP=55.8%, CR=59.0%, Faith=64.7%  ·  v3 Context Recall +25% (diversity </a:t>
            </a:r>
            <a:r>
              <a:rPr sz="900" b="0" dirty="0" err="1">
                <a:solidFill>
                  <a:srgbClr val="64748B"/>
                </a:solidFill>
              </a:rPr>
              <a:t>reranking</a:t>
            </a:r>
            <a:r>
              <a:rPr sz="900" b="0" dirty="0">
                <a:solidFill>
                  <a:srgbClr val="64748B"/>
                </a:solidFill>
              </a:rPr>
              <a:t>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E293B"/>
                </a:solidFill>
              </a:rPr>
              <a:t>Tool Call Accuracy </a:t>
            </a:r>
            <a:r>
              <a:rPr lang="en-US" sz="2200" b="1" dirty="0" smtClean="0">
                <a:solidFill>
                  <a:srgbClr val="1E293B"/>
                </a:solidFill>
              </a:rPr>
              <a:t>-</a:t>
            </a:r>
            <a:r>
              <a:rPr sz="2200" b="1" dirty="0" smtClean="0">
                <a:solidFill>
                  <a:srgbClr val="1E293B"/>
                </a:solidFill>
              </a:rPr>
              <a:t> </a:t>
            </a:r>
            <a:r>
              <a:rPr sz="2200" b="1" dirty="0">
                <a:solidFill>
                  <a:srgbClr val="1E293B"/>
                </a:solidFill>
              </a:rPr>
              <a:t>Agentic </a:t>
            </a:r>
            <a:r>
              <a:rPr sz="2200" b="1" dirty="0" err="1">
                <a:solidFill>
                  <a:srgbClr val="1E293B"/>
                </a:solidFill>
              </a:rPr>
              <a:t>Μετρική</a:t>
            </a:r>
            <a:endParaRPr sz="2200" b="1" dirty="0">
              <a:solidFill>
                <a:srgbClr val="1E293B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232241"/>
              </p:ext>
            </p:extLst>
          </p:nvPr>
        </p:nvGraphicFramePr>
        <p:xfrm>
          <a:off x="320040" y="777240"/>
          <a:ext cx="106984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Κα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τηγορί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α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v1→v2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v3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v2→v3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Ορισμικές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Συγκριτικές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Μεθοδολογικές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Απόδοσης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Αριθμητικές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Εκτός Πλαισίου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0.458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-45.8%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ΣΥΝΟΛΟ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0.619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0.298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-32.1%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0.298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+0.0%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6" descr="tca_by_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46120"/>
            <a:ext cx="11430000" cy="2606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5943600"/>
            <a:ext cx="1143000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971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</a:rPr>
              <a:t>Ερμηνεία TCA: 1.0 = σωστά tools, σωστή σειρά  ·  0.5 = σωστά tools, λάθος σειρά  ·  0.0 = λάθος tools ή παράλειψη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In-context: TCA=1.0 σε definitional/comparative/methodological/attribution (τέλεια)  ·  OOC TCA=0.0: agent αρνείται χωρίς tool calls = σωστή συμπεριφορά  ·  v3 Numerical +0.10 (IRCoT fix)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06c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E293B"/>
                </a:solidFill>
              </a:rPr>
              <a:t>HAIC </a:t>
            </a:r>
            <a:r>
              <a:rPr lang="en-US" sz="2200" b="1" dirty="0" smtClean="0">
                <a:solidFill>
                  <a:srgbClr val="1E293B"/>
                </a:solidFill>
              </a:rPr>
              <a:t>-</a:t>
            </a:r>
            <a:r>
              <a:rPr sz="2200" b="1" dirty="0" smtClean="0">
                <a:solidFill>
                  <a:srgbClr val="1E293B"/>
                </a:solidFill>
              </a:rPr>
              <a:t> </a:t>
            </a:r>
            <a:r>
              <a:rPr sz="2200" b="1" dirty="0">
                <a:solidFill>
                  <a:srgbClr val="1E293B"/>
                </a:solidFill>
              </a:rPr>
              <a:t>Human-AI Collaboration Benchmarking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754356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B82F6"/>
                </a:solidFill>
              </a:rPr>
              <a:t>v1 </a:t>
            </a:r>
            <a:r>
              <a:rPr lang="en-US" sz="1200" b="1" dirty="0" smtClean="0">
                <a:solidFill>
                  <a:srgbClr val="3B82F6"/>
                </a:solidFill>
              </a:rPr>
              <a:t>-</a:t>
            </a:r>
            <a:r>
              <a:rPr sz="1200" b="1" dirty="0" smtClean="0">
                <a:solidFill>
                  <a:srgbClr val="3B82F6"/>
                </a:solidFill>
              </a:rPr>
              <a:t> </a:t>
            </a:r>
            <a:r>
              <a:rPr sz="1200" b="1" dirty="0">
                <a:solidFill>
                  <a:srgbClr val="3B82F6"/>
                </a:solidFill>
              </a:rPr>
              <a:t>Helpfulness/Trust/Effort/Harm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906694"/>
              </p:ext>
            </p:extLst>
          </p:nvPr>
        </p:nvGraphicFramePr>
        <p:xfrm>
          <a:off x="1005840" y="1120116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Μετρική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Helpfulness (1–5)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3.756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Trust Calibration (1–3)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2.822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Effort Saved (1–5)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3.311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Harm Potential (1–3, low=good)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754356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A580C"/>
                </a:solidFill>
              </a:rPr>
              <a:t>v2 &amp; v3 </a:t>
            </a:r>
            <a:r>
              <a:rPr lang="en-US" sz="1200" b="1" dirty="0" smtClean="0">
                <a:solidFill>
                  <a:srgbClr val="EA580C"/>
                </a:solidFill>
              </a:rPr>
              <a:t>-</a:t>
            </a:r>
            <a:r>
              <a:rPr sz="1200" b="1" dirty="0" smtClean="0">
                <a:solidFill>
                  <a:srgbClr val="EA580C"/>
                </a:solidFill>
              </a:rPr>
              <a:t> </a:t>
            </a:r>
            <a:r>
              <a:rPr sz="1200" b="1" dirty="0">
                <a:solidFill>
                  <a:srgbClr val="EA580C"/>
                </a:solidFill>
              </a:rPr>
              <a:t>Judge Score (1–5, OOC-aware)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633359"/>
              </p:ext>
            </p:extLst>
          </p:nvPr>
        </p:nvGraphicFramePr>
        <p:xfrm>
          <a:off x="6355080" y="1120116"/>
          <a:ext cx="453390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Μετρική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v3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Mean Judge Score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2.583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4.024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Accept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46.4%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78.6%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n (ερωτήσεις)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2651760"/>
            <a:ext cx="11430000" cy="34899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366F1"/>
                </a:solidFill>
              </a:rPr>
              <a:t>Judge Score 1-5:  1=απ</a:t>
            </a:r>
            <a:r>
              <a:rPr sz="1000" b="0" dirty="0" err="1">
                <a:solidFill>
                  <a:srgbClr val="6366F1"/>
                </a:solidFill>
              </a:rPr>
              <a:t>οτυχί</a:t>
            </a:r>
            <a:r>
              <a:rPr sz="1000" b="0" dirty="0">
                <a:solidFill>
                  <a:srgbClr val="6366F1"/>
                </a:solidFill>
              </a:rPr>
              <a:t>α  |  2=μερικώς λάθος  |  3=μέτρια  |  4=καλή  |  5=άριστη / σωστή OOC άρνηση  ·  Accept Rate = ποσοστό ερωτήσεων με score ≥ 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789395"/>
              </p:ext>
            </p:extLst>
          </p:nvPr>
        </p:nvGraphicFramePr>
        <p:xfrm>
          <a:off x="320040" y="3421380"/>
          <a:ext cx="54864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Κα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τηγορί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α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v2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Acc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v2 Score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v3 Acc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v3 Score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Ορισμικές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4.800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4.200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Συγκριτικές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3.600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60.0%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2.600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Μεθοδολογικές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3.800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60.0%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Απόδοσης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80.0%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3.600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1.800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Αριθμητικές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2.400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60.0%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3.400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Εκτός Πλαισίου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E293B"/>
                          </a:solidFill>
                        </a:rPr>
                        <a:t>30.5%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2.136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86.4%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1E293B"/>
                          </a:solidFill>
                        </a:rPr>
                        <a:t>4.458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3" name="Picture 12" descr="haic_judge_by_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154680"/>
            <a:ext cx="6126480" cy="26060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5870448"/>
            <a:ext cx="11430000" cy="658368"/>
          </a:xfrm>
          <a:prstGeom prst="rect">
            <a:avLst/>
          </a:prstGeom>
          <a:solidFill>
            <a:srgbClr val="FA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v3 vs v2: Mean Judge Score +0.31 (3.48→3.79)  ·  Accept Rate +8% (71%→79%)  ·  OOC Judge Score: 4.46/5 (agent αρνείται σωστά 86.4% των φορών)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44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 err="1">
                <a:solidFill>
                  <a:srgbClr val="1E293B"/>
                </a:solidFill>
              </a:rPr>
              <a:t>EfficiencyScore</a:t>
            </a:r>
            <a:r>
              <a:rPr sz="950" b="0" dirty="0">
                <a:solidFill>
                  <a:srgbClr val="1E293B"/>
                </a:solidFill>
              </a:rPr>
              <a:t>=1.0 (~30s/query vs 89s manual baseline)  ·  OOC-aware judge: score=5 </a:t>
            </a:r>
            <a:r>
              <a:rPr sz="950" b="0" dirty="0" err="1">
                <a:solidFill>
                  <a:srgbClr val="1E293B"/>
                </a:solidFill>
              </a:rPr>
              <a:t>γι</a:t>
            </a:r>
            <a:r>
              <a:rPr sz="950" b="0" dirty="0">
                <a:solidFill>
                  <a:srgbClr val="1E293B"/>
                </a:solidFill>
              </a:rPr>
              <a:t>α σωστή άρνηση </a:t>
            </a:r>
            <a:r>
              <a:rPr lang="en-US" sz="950" b="0" dirty="0" smtClean="0">
                <a:solidFill>
                  <a:srgbClr val="1E293B"/>
                </a:solidFill>
              </a:rPr>
              <a:t>-</a:t>
            </a:r>
            <a:r>
              <a:rPr sz="950" b="0" dirty="0" smtClean="0">
                <a:solidFill>
                  <a:srgbClr val="1E293B"/>
                </a:solidFill>
              </a:rPr>
              <a:t> </a:t>
            </a:r>
            <a:r>
              <a:rPr sz="950" b="0" dirty="0">
                <a:solidFill>
                  <a:srgbClr val="1E293B"/>
                </a:solidFill>
              </a:rPr>
              <a:t>αποφεύγεται η παρά-κίνηση για hallucination  ·  v1 format incompatible (4-axis vs unified judge) </a:t>
            </a:r>
            <a:r>
              <a:rPr lang="en-US" sz="950" b="0" dirty="0" smtClean="0">
                <a:solidFill>
                  <a:srgbClr val="1E293B"/>
                </a:solidFill>
              </a:rPr>
              <a:t>-</a:t>
            </a:r>
            <a:r>
              <a:rPr sz="950" b="0" dirty="0" smtClean="0">
                <a:solidFill>
                  <a:srgbClr val="1E293B"/>
                </a:solidFill>
              </a:rPr>
              <a:t> </a:t>
            </a:r>
            <a:r>
              <a:rPr sz="950" b="0" dirty="0">
                <a:solidFill>
                  <a:srgbClr val="1E293B"/>
                </a:solidFill>
              </a:rPr>
              <a:t>σύγκριση v1/v2 ενδεικτική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Ανάλυση Αποτυχιών &amp; Πρότυπα Λαθών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543036"/>
              </p:ext>
            </p:extLst>
          </p:nvPr>
        </p:nvGraphicFramePr>
        <p:xfrm>
          <a:off x="320040" y="777240"/>
          <a:ext cx="11567160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6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8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Απ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οτυχί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α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Αιτί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α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Επίπ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τωση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Fix v3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Acronym retrieval failure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Dense bi-encoder δεν ταιριάζει 'HyDE' με paper χωρίς HyDE στον τίτλο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HAIC Q1: H=1/5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v3: Alias metadata στο Qdrant payload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Reranker αποθάπτει citation chunks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Cross-encoder προτιμά methods/results sections αντί attribution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CP=0.000 attribution 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v3: Diversity reranking (1 chunk/paper)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Αριθμητικά σε tables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Fixed/section chunking σπάει result tables · numbers scattered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Numerical F=0.44 σε v2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v3: Table-aware chunker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ArXiv HTTP 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84 back-to-back requests → rate limiting κατά evaluation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OOC Tool Accuracy μειωμένη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v3: SQLite arxiv cache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Authorship χωρίς metadata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Section-body chunks δεν περιέχουν authors field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BGE Q19: H=3 (hallucination risk)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v3: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authors+title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E293B"/>
                          </a:solidFill>
                        </a:rPr>
                        <a:t>σε</a:t>
                      </a:r>
                      <a:r>
                        <a:rPr sz="1100" b="0" dirty="0">
                          <a:solidFill>
                            <a:srgbClr val="1E293B"/>
                          </a:solidFill>
                        </a:rPr>
                        <a:t> chunk context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98207" y="3176086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6366F1"/>
                </a:solidFill>
              </a:rPr>
              <a:t>Κα</a:t>
            </a:r>
            <a:r>
              <a:rPr sz="1400" b="1" dirty="0" err="1">
                <a:solidFill>
                  <a:srgbClr val="6366F1"/>
                </a:solidFill>
              </a:rPr>
              <a:t>τηγορίες</a:t>
            </a:r>
            <a:r>
              <a:rPr sz="1400" b="1" dirty="0">
                <a:solidFill>
                  <a:srgbClr val="6366F1"/>
                </a:solidFill>
              </a:rPr>
              <a:t> </a:t>
            </a:r>
            <a:r>
              <a:rPr sz="1400" b="1" dirty="0" err="1">
                <a:solidFill>
                  <a:srgbClr val="6366F1"/>
                </a:solidFill>
              </a:rPr>
              <a:t>Ρίζ</a:t>
            </a:r>
            <a:r>
              <a:rPr sz="1400" b="1" dirty="0">
                <a:solidFill>
                  <a:srgbClr val="6366F1"/>
                </a:solidFill>
              </a:rPr>
              <a:t>ας Αιτίας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654" y="3454277"/>
            <a:ext cx="3822191" cy="1059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40382" y="3481710"/>
            <a:ext cx="3639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</a:rPr>
              <a:t>Retrieval Layer (2/5)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382" y="3756030"/>
            <a:ext cx="36393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</a:rPr>
              <a:t>Failures #1 + #2: Acronym mismatch &amp; reranker burial. Bi-encoder δεν κατανοεί coined terms. Cross-encoder over-weights methods sections vs attribution chunks. Αντιμετώπιση: aliases + diversity reranking.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0006" y="3454277"/>
            <a:ext cx="3822191" cy="1059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299734" y="3481710"/>
            <a:ext cx="3639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</a:rPr>
              <a:t>Data Format Issues (2/5)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9734" y="3756030"/>
            <a:ext cx="36393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</a:rPr>
              <a:t>Failures #3 + #5: Table chunking &amp; missing authorship metadata. Fixed chunker αγνοεί Markdown δομή. Chunk context χωρίς paper-level metadata. Αντιμετώπιση: table-aware chunker + payload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9358" y="3454277"/>
            <a:ext cx="3822191" cy="1059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259086" y="3481710"/>
            <a:ext cx="3639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</a:rPr>
              <a:t>Infrastructure/System (1/5)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9086" y="3756030"/>
            <a:ext cx="363931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</a:rPr>
              <a:t>Failure #4: </a:t>
            </a:r>
            <a:r>
              <a:rPr sz="1050" b="0" dirty="0" err="1">
                <a:solidFill>
                  <a:srgbClr val="1E293B"/>
                </a:solidFill>
              </a:rPr>
              <a:t>ArXiv</a:t>
            </a:r>
            <a:r>
              <a:rPr sz="1050" b="0" dirty="0">
                <a:solidFill>
                  <a:srgbClr val="1E293B"/>
                </a:solidFill>
              </a:rPr>
              <a:t> rate limiting κα</a:t>
            </a:r>
            <a:r>
              <a:rPr sz="1050" b="0" dirty="0" err="1">
                <a:solidFill>
                  <a:srgbClr val="1E293B"/>
                </a:solidFill>
              </a:rPr>
              <a:t>τά</a:t>
            </a:r>
            <a:r>
              <a:rPr sz="1050" b="0" dirty="0">
                <a:solidFill>
                  <a:srgbClr val="1E293B"/>
                </a:solidFill>
              </a:rPr>
              <a:t> evaluation. 84 back-to-back API requests → HTTP 429. </a:t>
            </a:r>
            <a:r>
              <a:rPr sz="1050" b="0" dirty="0" err="1">
                <a:solidFill>
                  <a:srgbClr val="1E293B"/>
                </a:solidFill>
              </a:rPr>
              <a:t>Δεν</a:t>
            </a:r>
            <a:r>
              <a:rPr sz="1050" b="0" dirty="0">
                <a:solidFill>
                  <a:srgbClr val="1E293B"/>
                </a:solidFill>
              </a:rPr>
              <a:t> α</a:t>
            </a:r>
            <a:r>
              <a:rPr sz="1050" b="0" dirty="0" err="1">
                <a:solidFill>
                  <a:srgbClr val="1E293B"/>
                </a:solidFill>
              </a:rPr>
              <a:t>ντι</a:t>
            </a:r>
            <a:r>
              <a:rPr sz="1050" b="0" dirty="0">
                <a:solidFill>
                  <a:srgbClr val="1E293B"/>
                </a:solidFill>
              </a:rPr>
              <a:t>προσωπεύει production behavior </a:t>
            </a:r>
            <a:r>
              <a:rPr lang="en-US" sz="1050" b="0" dirty="0" smtClean="0">
                <a:solidFill>
                  <a:srgbClr val="1E293B"/>
                </a:solidFill>
              </a:rPr>
              <a:t>-</a:t>
            </a:r>
            <a:r>
              <a:rPr sz="1050" b="0" dirty="0" smtClean="0">
                <a:solidFill>
                  <a:srgbClr val="1E293B"/>
                </a:solidFill>
              </a:rPr>
              <a:t> </a:t>
            </a:r>
            <a:r>
              <a:rPr sz="1050" b="0" dirty="0">
                <a:solidFill>
                  <a:srgbClr val="1E293B"/>
                </a:solidFill>
              </a:rPr>
              <a:t>αντιμετωπίζεται με SQLite cache.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207" y="4655696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6A34A"/>
                </a:solidFill>
              </a:rPr>
              <a:t>v3 Fix Coverage </a:t>
            </a:r>
            <a:r>
              <a:rPr lang="en-US" sz="1100" b="1" dirty="0" smtClean="0">
                <a:solidFill>
                  <a:srgbClr val="16A34A"/>
                </a:solidFill>
              </a:rPr>
              <a:t>-</a:t>
            </a:r>
            <a:r>
              <a:rPr sz="1100" b="1" dirty="0" smtClean="0">
                <a:solidFill>
                  <a:srgbClr val="16A34A"/>
                </a:solidFill>
              </a:rPr>
              <a:t> </a:t>
            </a:r>
            <a:r>
              <a:rPr sz="1100" b="1" dirty="0">
                <a:solidFill>
                  <a:srgbClr val="16A34A"/>
                </a:solidFill>
              </a:rPr>
              <a:t>5/5 Failures Addressed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729" y="4976059"/>
            <a:ext cx="2240280" cy="83045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07169" y="501758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</a:rPr>
              <a:t>#1 Acronym miss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169" y="5237042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→ Alias 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169" y="5460691"/>
            <a:ext cx="21031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PAPER_ALIASES in Qdrant payload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9886" y="4985124"/>
            <a:ext cx="1538246" cy="83045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3321326" y="5026651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</a:rPr>
              <a:t>#2 Citation burial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1326" y="5246107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→ Diversity reranking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1326" y="54697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max 1 chunk/paper_id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42009" y="4985124"/>
            <a:ext cx="1920240" cy="83045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5233449" y="5026651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</a:rPr>
              <a:t>#3 Table break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3449" y="5246107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→ Table-aware chunker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3449" y="54697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splits at row boundaries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36126" y="4985124"/>
            <a:ext cx="1836420" cy="83045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7527566" y="5026651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DC2626"/>
                </a:solidFill>
              </a:rPr>
              <a:t>#4 Rate limiting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7566" y="5246107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→ SQLite ArXiv cache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7566" y="54697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SHA-256 keyed, no HTTP 429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423" y="5012870"/>
            <a:ext cx="1783080" cy="83045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9737863" y="5054397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</a:rPr>
              <a:t>#5 Author miss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7863" y="5273853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→ Metadata in payload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7863" y="5497502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authors+title in every chunk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6051102"/>
            <a:ext cx="11430000" cy="47669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6078534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EA580C"/>
                </a:solidFill>
              </a:rPr>
              <a:t>Πα</a:t>
            </a:r>
            <a:r>
              <a:rPr sz="1000" b="0" dirty="0" err="1">
                <a:solidFill>
                  <a:srgbClr val="EA580C"/>
                </a:solidFill>
              </a:rPr>
              <a:t>ράδοξο</a:t>
            </a:r>
            <a:r>
              <a:rPr sz="1000" b="0" dirty="0">
                <a:solidFill>
                  <a:srgbClr val="EA580C"/>
                </a:solidFill>
              </a:rPr>
              <a:t> </a:t>
            </a:r>
            <a:r>
              <a:rPr sz="1000" b="0" dirty="0" err="1">
                <a:solidFill>
                  <a:srgbClr val="EA580C"/>
                </a:solidFill>
              </a:rPr>
              <a:t>HyDE</a:t>
            </a:r>
            <a:r>
              <a:rPr sz="1000" b="0" dirty="0">
                <a:solidFill>
                  <a:srgbClr val="EA580C"/>
                </a:solidFill>
              </a:rPr>
              <a:t>: Q1 'What is </a:t>
            </a:r>
            <a:r>
              <a:rPr sz="1000" b="0" dirty="0" err="1">
                <a:solidFill>
                  <a:srgbClr val="EA580C"/>
                </a:solidFill>
              </a:rPr>
              <a:t>HyDE</a:t>
            </a:r>
            <a:r>
              <a:rPr sz="1000" b="0" dirty="0">
                <a:solidFill>
                  <a:srgbClr val="EA580C"/>
                </a:solidFill>
              </a:rPr>
              <a:t>?' → H=1 (απ</a:t>
            </a:r>
            <a:r>
              <a:rPr sz="1000" b="0" dirty="0" err="1">
                <a:solidFill>
                  <a:srgbClr val="EA580C"/>
                </a:solidFill>
              </a:rPr>
              <a:t>οτυχί</a:t>
            </a:r>
            <a:r>
              <a:rPr sz="1000" b="0" dirty="0">
                <a:solidFill>
                  <a:srgbClr val="EA580C"/>
                </a:solidFill>
              </a:rPr>
              <a:t>α acronym). Q12 'How does </a:t>
            </a:r>
            <a:r>
              <a:rPr sz="1000" b="0" dirty="0" err="1">
                <a:solidFill>
                  <a:srgbClr val="EA580C"/>
                </a:solidFill>
              </a:rPr>
              <a:t>HyDE</a:t>
            </a:r>
            <a:r>
              <a:rPr sz="1000" b="0" dirty="0">
                <a:solidFill>
                  <a:srgbClr val="EA580C"/>
                </a:solidFill>
              </a:rPr>
              <a:t> generate the search vector?' → H=5 (επ</a:t>
            </a:r>
            <a:r>
              <a:rPr sz="1000" b="0" dirty="0" err="1">
                <a:solidFill>
                  <a:srgbClr val="EA580C"/>
                </a:solidFill>
              </a:rPr>
              <a:t>ιτυχί</a:t>
            </a:r>
            <a:r>
              <a:rPr sz="1000" b="0" dirty="0">
                <a:solidFill>
                  <a:srgbClr val="EA580C"/>
                </a:solidFill>
              </a:rPr>
              <a:t>α). Απ</a:t>
            </a:r>
            <a:r>
              <a:rPr sz="1000" b="0" dirty="0" err="1">
                <a:solidFill>
                  <a:srgbClr val="EA580C"/>
                </a:solidFill>
              </a:rPr>
              <a:t>οδεικνύει</a:t>
            </a:r>
            <a:r>
              <a:rPr sz="1000" b="0" dirty="0">
                <a:solidFill>
                  <a:srgbClr val="EA580C"/>
                </a:solidFill>
              </a:rPr>
              <a:t> </a:t>
            </a:r>
            <a:r>
              <a:rPr sz="1000" b="0" dirty="0" err="1">
                <a:solidFill>
                  <a:srgbClr val="EA580C"/>
                </a:solidFill>
              </a:rPr>
              <a:t>ότι</a:t>
            </a:r>
            <a:r>
              <a:rPr sz="1000" b="0" dirty="0">
                <a:solidFill>
                  <a:srgbClr val="EA580C"/>
                </a:solidFill>
              </a:rPr>
              <a:t> dense retrieval απ</a:t>
            </a:r>
            <a:r>
              <a:rPr sz="1000" b="0" dirty="0" err="1">
                <a:solidFill>
                  <a:srgbClr val="EA580C"/>
                </a:solidFill>
              </a:rPr>
              <a:t>οτυγχάνει</a:t>
            </a:r>
            <a:r>
              <a:rPr sz="1000" b="0" dirty="0">
                <a:solidFill>
                  <a:srgbClr val="EA580C"/>
                </a:solidFill>
              </a:rPr>
              <a:t> </a:t>
            </a:r>
            <a:r>
              <a:rPr sz="1000" b="0" dirty="0" err="1">
                <a:solidFill>
                  <a:srgbClr val="EA580C"/>
                </a:solidFill>
              </a:rPr>
              <a:t>σε</a:t>
            </a:r>
            <a:r>
              <a:rPr sz="1000" b="0" dirty="0">
                <a:solidFill>
                  <a:srgbClr val="EA580C"/>
                </a:solidFill>
              </a:rPr>
              <a:t> α</a:t>
            </a:r>
            <a:r>
              <a:rPr sz="1000" b="0" dirty="0" err="1">
                <a:solidFill>
                  <a:srgbClr val="EA580C"/>
                </a:solidFill>
              </a:rPr>
              <a:t>κρώνυμ</a:t>
            </a:r>
            <a:r>
              <a:rPr sz="1000" b="0" dirty="0">
                <a:solidFill>
                  <a:srgbClr val="EA580C"/>
                </a:solidFill>
              </a:rPr>
              <a:t>α </a:t>
            </a:r>
            <a:r>
              <a:rPr lang="en-US" sz="1000" b="0" dirty="0" smtClean="0">
                <a:solidFill>
                  <a:srgbClr val="EA580C"/>
                </a:solidFill>
              </a:rPr>
              <a:t>-</a:t>
            </a:r>
            <a:r>
              <a:rPr sz="1000" b="0" dirty="0" smtClean="0">
                <a:solidFill>
                  <a:srgbClr val="EA580C"/>
                </a:solidFill>
              </a:rPr>
              <a:t> </a:t>
            </a:r>
            <a:r>
              <a:rPr sz="1000" b="0" dirty="0">
                <a:solidFill>
                  <a:srgbClr val="EA580C"/>
                </a:solidFill>
              </a:rPr>
              <a:t>λύση: alias metadata στο v3.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Περιορισμοί &amp; Μελλοντικές Βελτιώσεις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868977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 err="1">
                <a:solidFill>
                  <a:srgbClr val="DC2626"/>
                </a:solidFill>
              </a:rPr>
              <a:t>Περιορισμοί</a:t>
            </a:r>
            <a:r>
              <a:rPr sz="1300" b="1" i="1" dirty="0">
                <a:solidFill>
                  <a:srgbClr val="DC2626"/>
                </a:solidFill>
              </a:rPr>
              <a:t> (6)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462413"/>
              </p:ext>
            </p:extLst>
          </p:nvPr>
        </p:nvGraphicFramePr>
        <p:xfrm>
          <a:off x="320040" y="1188720"/>
          <a:ext cx="54864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</a:rPr>
                        <a:t>Περιορισμός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Επ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</a:rPr>
                        <a:t>εξήγηση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OOC-diluted scores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59/84 OOC ερωτήσεις dilute τα overall RAGAS averages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HAIC v1/v2 incompatibility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v1: 4 μετρικές (n=45) · v2: judge score (n=84)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Anglophone corpus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Μόνο αγγλόφωνα ArXiv · ελληνόφωνες ερωτήσεις not tested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No multi-hop 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Agent δεν decompose σύνθετες ερωτήσεις (pre-v3)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LLM judge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Χωρίς human baseline για cross-validation των HAIC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ArXiv rate limiting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HTTP 429 κα</a:t>
                      </a:r>
                      <a:r>
                        <a:rPr sz="1000" b="0" dirty="0" err="1">
                          <a:solidFill>
                            <a:srgbClr val="1E293B"/>
                          </a:solidFill>
                        </a:rPr>
                        <a:t>τά</a:t>
                      </a:r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E293B"/>
                          </a:solidFill>
                        </a:rPr>
                        <a:t>eval</a:t>
                      </a:r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 batch επ</a:t>
                      </a:r>
                      <a:r>
                        <a:rPr sz="1000" b="0" dirty="0" err="1">
                          <a:solidFill>
                            <a:srgbClr val="1E293B"/>
                          </a:solidFill>
                        </a:rPr>
                        <a:t>ηρέ</a:t>
                      </a:r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ασε OOC TCA (pre-v3)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868977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 err="1">
                <a:solidFill>
                  <a:srgbClr val="16A34A"/>
                </a:solidFill>
              </a:rPr>
              <a:t>Βελτιώσεις</a:t>
            </a:r>
            <a:r>
              <a:rPr sz="1300" b="1" i="1" dirty="0">
                <a:solidFill>
                  <a:srgbClr val="16A34A"/>
                </a:solidFill>
              </a:rPr>
              <a:t> v3 (</a:t>
            </a:r>
            <a:r>
              <a:rPr sz="1300" b="1" i="1" dirty="0" err="1">
                <a:solidFill>
                  <a:srgbClr val="16A34A"/>
                </a:solidFill>
              </a:rPr>
              <a:t>υλο</a:t>
            </a:r>
            <a:r>
              <a:rPr sz="1300" b="1" i="1" dirty="0">
                <a:solidFill>
                  <a:srgbClr val="16A34A"/>
                </a:solidFill>
              </a:rPr>
              <a:t>ποιημένες)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557618"/>
              </p:ext>
            </p:extLst>
          </p:nvPr>
        </p:nvGraphicFramePr>
        <p:xfrm>
          <a:off x="6080760" y="1188720"/>
          <a:ext cx="55778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</a:rPr>
                        <a:t>Βελτίωση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0D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</a:rPr>
                        <a:t>Περιγρ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αφή</a:t>
                      </a:r>
                    </a:p>
                  </a:txBody>
                  <a:tcPr anchor="ctr">
                    <a:solidFill>
                      <a:srgbClr val="00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Table-aware chunker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Markdown tables ακέραιες για numerical Qs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Diversity reranking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Max 1 chunk/paper_id στα top-k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Author alias metadata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HyDE, Self-RAG, ReAct στο Qdrant payload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Iterative 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1E293B"/>
                          </a:solidFill>
                        </a:rPr>
                        <a:t>IRCoT</a:t>
                      </a:r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-style sub-query decomposition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Multi-agent orchestration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Planner→Researcher→Synthesizer LangGraph graph (L11)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Eval ArXiv caching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SQLite cache → no HTTP 429 κα</a:t>
                      </a:r>
                      <a:r>
                        <a:rPr sz="1000" b="0" dirty="0" err="1">
                          <a:solidFill>
                            <a:srgbClr val="1E293B"/>
                          </a:solidFill>
                        </a:rPr>
                        <a:t>τά</a:t>
                      </a:r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E293B"/>
                          </a:solidFill>
                        </a:rPr>
                        <a:t>eval</a:t>
                      </a:r>
                      <a:endParaRPr sz="1000" b="0" dirty="0">
                        <a:solidFill>
                          <a:srgbClr val="1E293B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3383280"/>
            <a:ext cx="11430000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6366F1"/>
                </a:solidFill>
              </a:rPr>
              <a:t>v3 Status: 2/6 </a:t>
            </a:r>
            <a:r>
              <a:rPr sz="1000" b="1" dirty="0" err="1">
                <a:solidFill>
                  <a:srgbClr val="6366F1"/>
                </a:solidFill>
              </a:rPr>
              <a:t>Περιορισμοί</a:t>
            </a:r>
            <a:r>
              <a:rPr sz="1000" b="1" dirty="0">
                <a:solidFill>
                  <a:srgbClr val="6366F1"/>
                </a:solidFill>
              </a:rPr>
              <a:t> </a:t>
            </a:r>
            <a:r>
              <a:rPr sz="1000" b="1" dirty="0" err="1">
                <a:solidFill>
                  <a:srgbClr val="6366F1"/>
                </a:solidFill>
              </a:rPr>
              <a:t>Αντιμετω</a:t>
            </a:r>
            <a:r>
              <a:rPr sz="1000" b="1" dirty="0">
                <a:solidFill>
                  <a:srgbClr val="6366F1"/>
                </a:solidFill>
              </a:rPr>
              <a:t>πίστηκαν  </a:t>
            </a:r>
            <a:r>
              <a:rPr lang="en-US" sz="1000" b="1" dirty="0" smtClean="0">
                <a:solidFill>
                  <a:srgbClr val="6366F1"/>
                </a:solidFill>
              </a:rPr>
              <a:t>-</a:t>
            </a:r>
            <a:r>
              <a:rPr sz="1000" b="1" dirty="0" smtClean="0">
                <a:solidFill>
                  <a:srgbClr val="6366F1"/>
                </a:solidFill>
              </a:rPr>
              <a:t>  </a:t>
            </a:r>
            <a:r>
              <a:rPr sz="1000" b="1" dirty="0">
                <a:solidFill>
                  <a:srgbClr val="6366F1"/>
                </a:solidFill>
              </a:rPr>
              <a:t>4/6 Εκκρεμούν για επόμενη </a:t>
            </a:r>
            <a:r>
              <a:rPr lang="el-GR" sz="1000" b="1" dirty="0" smtClean="0">
                <a:solidFill>
                  <a:srgbClr val="6366F1"/>
                </a:solidFill>
              </a:rPr>
              <a:t>βελτιστοποίηση</a:t>
            </a:r>
            <a:endParaRPr sz="1000" b="1" dirty="0">
              <a:solidFill>
                <a:srgbClr val="6366F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" y="3853347"/>
            <a:ext cx="5577840" cy="110496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8899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Αντιμετωπίστηκαν (2/6)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6341"/>
            <a:ext cx="53035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50" b="0" dirty="0" err="1" smtClean="0">
                <a:solidFill>
                  <a:srgbClr val="1E293B"/>
                </a:solidFill>
              </a:rPr>
              <a:t>ArXiv</a:t>
            </a:r>
            <a:r>
              <a:rPr sz="950" b="0" dirty="0" smtClean="0">
                <a:solidFill>
                  <a:srgbClr val="1E293B"/>
                </a:solidFill>
              </a:rPr>
              <a:t> </a:t>
            </a:r>
            <a:r>
              <a:rPr sz="950" b="0" dirty="0">
                <a:solidFill>
                  <a:srgbClr val="1E293B"/>
                </a:solidFill>
              </a:rPr>
              <a:t>rate limiting → SQLite cache (namespace '</a:t>
            </a:r>
            <a:r>
              <a:rPr sz="950" b="0" dirty="0" err="1">
                <a:solidFill>
                  <a:srgbClr val="1E293B"/>
                </a:solidFill>
              </a:rPr>
              <a:t>arxiv</a:t>
            </a:r>
            <a:r>
              <a:rPr sz="950" b="0" dirty="0">
                <a:solidFill>
                  <a:srgbClr val="1E293B"/>
                </a:solidFill>
              </a:rPr>
              <a:t>', SHA-256, HTTP 429 </a:t>
            </a:r>
            <a:r>
              <a:rPr sz="950" b="0" dirty="0" err="1">
                <a:solidFill>
                  <a:srgbClr val="1E293B"/>
                </a:solidFill>
              </a:rPr>
              <a:t>εξ</a:t>
            </a:r>
            <a:r>
              <a:rPr sz="950" b="0" dirty="0">
                <a:solidFill>
                  <a:srgbClr val="1E293B"/>
                </a:solidFill>
              </a:rPr>
              <a:t>αλείφθηκε)
</a:t>
            </a:r>
            <a:r>
              <a:rPr sz="950" b="0" dirty="0" smtClean="0">
                <a:solidFill>
                  <a:srgbClr val="1E293B"/>
                </a:solidFill>
              </a:rPr>
              <a:t>No </a:t>
            </a:r>
            <a:r>
              <a:rPr sz="950" b="0" dirty="0">
                <a:solidFill>
                  <a:srgbClr val="1E293B"/>
                </a:solidFill>
              </a:rPr>
              <a:t>multi-hop retrieval → IRCoT sub-queries: Planner παράγει SearchPlan με sub_queries[], Researcher εκτελεί rag_retrieve ×N → dedup </a:t>
            </a:r>
            <a:r>
              <a:rPr sz="950" b="0" dirty="0" smtClean="0">
                <a:solidFill>
                  <a:srgbClr val="1E293B"/>
                </a:solidFill>
              </a:rPr>
              <a:t>chunks</a:t>
            </a:r>
            <a:endParaRPr lang="en-US" sz="950" b="0" dirty="0" smtClean="0">
              <a:solidFill>
                <a:srgbClr val="1E29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Thread persistence: SQLite data layer, chat history across </a:t>
            </a:r>
            <a:r>
              <a:rPr lang="en-US" sz="950" dirty="0" smtClean="0">
                <a:solidFill>
                  <a:srgbClr val="1E293B"/>
                </a:solidFill>
              </a:rPr>
              <a:t>sessions</a:t>
            </a:r>
            <a:endParaRPr lang="en-US" sz="950" dirty="0">
              <a:solidFill>
                <a:srgbClr val="1E29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smtClean="0">
                <a:solidFill>
                  <a:srgbClr val="1E293B"/>
                </a:solidFill>
              </a:rPr>
              <a:t>PDF </a:t>
            </a:r>
            <a:r>
              <a:rPr lang="en-US" sz="950" dirty="0">
                <a:solidFill>
                  <a:srgbClr val="1E293B"/>
                </a:solidFill>
              </a:rPr>
              <a:t>upload: in-session RAG over uploaded </a:t>
            </a:r>
            <a:r>
              <a:rPr lang="en-US" sz="950" dirty="0" smtClean="0">
                <a:solidFill>
                  <a:srgbClr val="1E293B"/>
                </a:solidFill>
              </a:rPr>
              <a:t>documents</a:t>
            </a:r>
            <a:endParaRPr lang="en-US" sz="950" dirty="0">
              <a:solidFill>
                <a:srgbClr val="1E293B"/>
              </a:solidFill>
            </a:endParaRPr>
          </a:p>
          <a:p>
            <a:pPr algn="l"/>
            <a:endParaRPr sz="950" b="0" dirty="0">
              <a:solidFill>
                <a:srgbClr val="1E293B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80760" y="3853348"/>
            <a:ext cx="5760720" cy="988004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38899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</a:rPr>
              <a:t>Εκκρεμούν (4/6)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31223"/>
            <a:ext cx="5486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50" b="0" dirty="0" smtClean="0">
                <a:solidFill>
                  <a:srgbClr val="1E293B"/>
                </a:solidFill>
              </a:rPr>
              <a:t>OOC-diluted </a:t>
            </a:r>
            <a:r>
              <a:rPr sz="950" b="0" dirty="0">
                <a:solidFill>
                  <a:srgbClr val="1E293B"/>
                </a:solidFill>
              </a:rPr>
              <a:t>scores: structural </a:t>
            </a:r>
            <a:r>
              <a:rPr lang="en-US" sz="950" b="0" dirty="0" smtClean="0">
                <a:solidFill>
                  <a:srgbClr val="1E293B"/>
                </a:solidFill>
              </a:rPr>
              <a:t>-</a:t>
            </a:r>
            <a:r>
              <a:rPr sz="950" b="0" dirty="0" smtClean="0">
                <a:solidFill>
                  <a:srgbClr val="1E293B"/>
                </a:solidFill>
              </a:rPr>
              <a:t> </a:t>
            </a:r>
            <a:r>
              <a:rPr sz="950" b="0" dirty="0">
                <a:solidFill>
                  <a:srgbClr val="1E293B"/>
                </a:solidFill>
              </a:rPr>
              <a:t>59 OOC </a:t>
            </a:r>
            <a:r>
              <a:rPr sz="950" b="0" dirty="0" err="1">
                <a:solidFill>
                  <a:srgbClr val="1E293B"/>
                </a:solidFill>
              </a:rPr>
              <a:t>ερωτήσεις</a:t>
            </a:r>
            <a:r>
              <a:rPr sz="950" b="0" dirty="0">
                <a:solidFill>
                  <a:srgbClr val="1E293B"/>
                </a:solidFill>
              </a:rPr>
              <a:t> → </a:t>
            </a:r>
            <a:r>
              <a:rPr sz="950" b="0" dirty="0" err="1">
                <a:solidFill>
                  <a:srgbClr val="1E293B"/>
                </a:solidFill>
              </a:rPr>
              <a:t>χωριστό</a:t>
            </a:r>
            <a:r>
              <a:rPr sz="950" b="0" dirty="0">
                <a:solidFill>
                  <a:srgbClr val="1E293B"/>
                </a:solidFill>
              </a:rPr>
              <a:t> in-context reporting
</a:t>
            </a:r>
            <a:r>
              <a:rPr sz="950" b="0" dirty="0" smtClean="0">
                <a:solidFill>
                  <a:srgbClr val="1E293B"/>
                </a:solidFill>
              </a:rPr>
              <a:t>HAIC </a:t>
            </a:r>
            <a:r>
              <a:rPr sz="950" b="0" dirty="0">
                <a:solidFill>
                  <a:srgbClr val="1E293B"/>
                </a:solidFill>
              </a:rPr>
              <a:t>v1/v2 format mismatch: breaking change (4-axis vs unified judge)
</a:t>
            </a:r>
            <a:r>
              <a:rPr sz="950" b="0" dirty="0" smtClean="0">
                <a:solidFill>
                  <a:srgbClr val="1E293B"/>
                </a:solidFill>
              </a:rPr>
              <a:t>Anglophone </a:t>
            </a:r>
            <a:r>
              <a:rPr sz="950" b="0" dirty="0">
                <a:solidFill>
                  <a:srgbClr val="1E293B"/>
                </a:solidFill>
              </a:rPr>
              <a:t>corpus: απα</a:t>
            </a:r>
            <a:r>
              <a:rPr sz="950" b="0" dirty="0" err="1">
                <a:solidFill>
                  <a:srgbClr val="1E293B"/>
                </a:solidFill>
              </a:rPr>
              <a:t>ιτεί</a:t>
            </a:r>
            <a:r>
              <a:rPr sz="950" b="0" dirty="0">
                <a:solidFill>
                  <a:srgbClr val="1E293B"/>
                </a:solidFill>
              </a:rPr>
              <a:t> multilingual </a:t>
            </a:r>
            <a:r>
              <a:rPr sz="950" b="0" dirty="0" err="1">
                <a:solidFill>
                  <a:srgbClr val="1E293B"/>
                </a:solidFill>
              </a:rPr>
              <a:t>embeddings</a:t>
            </a:r>
            <a:r>
              <a:rPr sz="950" b="0" dirty="0">
                <a:solidFill>
                  <a:srgbClr val="1E293B"/>
                </a:solidFill>
              </a:rPr>
              <a:t> + </a:t>
            </a:r>
            <a:r>
              <a:rPr sz="950" b="0" dirty="0" err="1">
                <a:solidFill>
                  <a:srgbClr val="1E293B"/>
                </a:solidFill>
              </a:rPr>
              <a:t>ελληνικά</a:t>
            </a:r>
            <a:r>
              <a:rPr sz="950" b="0" dirty="0">
                <a:solidFill>
                  <a:srgbClr val="1E293B"/>
                </a:solidFill>
              </a:rPr>
              <a:t> </a:t>
            </a:r>
            <a:r>
              <a:rPr sz="950" b="0" dirty="0" err="1">
                <a:solidFill>
                  <a:srgbClr val="1E293B"/>
                </a:solidFill>
              </a:rPr>
              <a:t>ArXiv</a:t>
            </a:r>
            <a:r>
              <a:rPr sz="950" b="0" dirty="0">
                <a:solidFill>
                  <a:srgbClr val="1E293B"/>
                </a:solidFill>
              </a:rPr>
              <a:t> papers
</a:t>
            </a:r>
            <a:r>
              <a:rPr sz="950" b="0" dirty="0" smtClean="0">
                <a:solidFill>
                  <a:srgbClr val="1E293B"/>
                </a:solidFill>
              </a:rPr>
              <a:t>LLM </a:t>
            </a:r>
            <a:r>
              <a:rPr sz="950" b="0" dirty="0">
                <a:solidFill>
                  <a:srgbClr val="1E293B"/>
                </a:solidFill>
              </a:rPr>
              <a:t>judge only: </a:t>
            </a:r>
            <a:r>
              <a:rPr sz="950" b="0" dirty="0" err="1">
                <a:solidFill>
                  <a:srgbClr val="1E293B"/>
                </a:solidFill>
              </a:rPr>
              <a:t>χωρίς</a:t>
            </a:r>
            <a:r>
              <a:rPr sz="950" b="0" dirty="0">
                <a:solidFill>
                  <a:srgbClr val="1E293B"/>
                </a:solidFill>
              </a:rPr>
              <a:t> human annotation study </a:t>
            </a:r>
            <a:r>
              <a:rPr sz="950" b="0" dirty="0" err="1">
                <a:solidFill>
                  <a:srgbClr val="1E293B"/>
                </a:solidFill>
              </a:rPr>
              <a:t>γι</a:t>
            </a:r>
            <a:r>
              <a:rPr sz="950" b="0" dirty="0">
                <a:solidFill>
                  <a:srgbClr val="1E293B"/>
                </a:solidFill>
              </a:rPr>
              <a:t>α cross-validation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226073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 dirty="0" err="1">
                <a:solidFill>
                  <a:srgbClr val="6366F1"/>
                </a:solidFill>
              </a:rPr>
              <a:t>Πώς</a:t>
            </a:r>
            <a:r>
              <a:rPr sz="1400" b="1" i="1" dirty="0">
                <a:solidFill>
                  <a:srgbClr val="6366F1"/>
                </a:solidFill>
              </a:rPr>
              <a:t> Επ</a:t>
            </a:r>
            <a:r>
              <a:rPr sz="1400" b="1" i="1" dirty="0" err="1">
                <a:solidFill>
                  <a:srgbClr val="6366F1"/>
                </a:solidFill>
              </a:rPr>
              <a:t>ηρεάζουν</a:t>
            </a:r>
            <a:r>
              <a:rPr sz="1400" b="1" i="1" dirty="0">
                <a:solidFill>
                  <a:srgbClr val="6366F1"/>
                </a:solidFill>
              </a:rPr>
              <a:t> τα Απ</a:t>
            </a:r>
            <a:r>
              <a:rPr sz="1400" b="1" i="1" dirty="0" err="1">
                <a:solidFill>
                  <a:srgbClr val="6366F1"/>
                </a:solidFill>
              </a:rPr>
              <a:t>οτελέσμ</a:t>
            </a:r>
            <a:r>
              <a:rPr sz="1400" b="1" i="1" dirty="0">
                <a:solidFill>
                  <a:srgbClr val="6366F1"/>
                </a:solidFill>
              </a:rPr>
              <a:t>ατα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99857"/>
            <a:ext cx="3657600" cy="71725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411480" y="5527290"/>
            <a:ext cx="34564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OOC Dilution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801610"/>
            <a:ext cx="345643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v3 CP=0.211 overall (84 Qs). In-context only (25 Qs): CP=55.8%. Η πραγματική retrieval ικανότητα είναι πολύ υψηλότερη από το overall.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5499857"/>
            <a:ext cx="3657600" cy="71725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4251960" y="5527290"/>
            <a:ext cx="34564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HAIC 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801610"/>
            <a:ext cx="345643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</a:rPr>
              <a:t>v1 (n=45, 4-axis) vs v2/v3 (n=84, judge). Helpfulness=3.44 (v1) vs Judge=3.79 (v3) </a:t>
            </a:r>
            <a:r>
              <a:rPr lang="en-US" sz="1050" b="0" dirty="0" smtClean="0">
                <a:solidFill>
                  <a:srgbClr val="1E293B"/>
                </a:solidFill>
              </a:rPr>
              <a:t>-</a:t>
            </a:r>
            <a:r>
              <a:rPr sz="1050" b="0" dirty="0" smtClean="0">
                <a:solidFill>
                  <a:srgbClr val="1E293B"/>
                </a:solidFill>
              </a:rPr>
              <a:t> </a:t>
            </a:r>
            <a:r>
              <a:rPr sz="1050" b="0" dirty="0" err="1">
                <a:solidFill>
                  <a:srgbClr val="1E293B"/>
                </a:solidFill>
              </a:rPr>
              <a:t>μη</a:t>
            </a:r>
            <a:r>
              <a:rPr sz="1050" b="0" dirty="0">
                <a:solidFill>
                  <a:srgbClr val="1E293B"/>
                </a:solidFill>
              </a:rPr>
              <a:t> </a:t>
            </a:r>
            <a:r>
              <a:rPr sz="1050" b="0" dirty="0" err="1">
                <a:solidFill>
                  <a:srgbClr val="1E293B"/>
                </a:solidFill>
              </a:rPr>
              <a:t>συγκρίσιμ</a:t>
            </a:r>
            <a:r>
              <a:rPr sz="1050" b="0" dirty="0">
                <a:solidFill>
                  <a:srgbClr val="1E293B"/>
                </a:solidFill>
              </a:rPr>
              <a:t>α αριθμητικά.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5438302"/>
            <a:ext cx="3657600" cy="87883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8138160" y="5465735"/>
            <a:ext cx="34564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LLM Judge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740055"/>
            <a:ext cx="34564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</a:rPr>
              <a:t>gpt-4.1-mini judge: π</a:t>
            </a:r>
            <a:r>
              <a:rPr sz="1050" b="0" dirty="0" err="1">
                <a:solidFill>
                  <a:srgbClr val="1E293B"/>
                </a:solidFill>
              </a:rPr>
              <a:t>ιθ</a:t>
            </a:r>
            <a:r>
              <a:rPr sz="1050" b="0" dirty="0">
                <a:solidFill>
                  <a:srgbClr val="1E293B"/>
                </a:solidFill>
              </a:rPr>
              <a:t>ανή lenient bias σε OOC. Human baseline study </a:t>
            </a:r>
            <a:r>
              <a:rPr sz="1050" b="0" dirty="0" err="1">
                <a:solidFill>
                  <a:srgbClr val="1E293B"/>
                </a:solidFill>
              </a:rPr>
              <a:t>δεν</a:t>
            </a:r>
            <a:r>
              <a:rPr sz="1050" b="0" dirty="0">
                <a:solidFill>
                  <a:srgbClr val="1E293B"/>
                </a:solidFill>
              </a:rPr>
              <a:t> </a:t>
            </a:r>
            <a:r>
              <a:rPr sz="1050" b="0" dirty="0" err="1">
                <a:solidFill>
                  <a:srgbClr val="1E293B"/>
                </a:solidFill>
              </a:rPr>
              <a:t>διεξήχθη</a:t>
            </a:r>
            <a:r>
              <a:rPr sz="1050" b="0" dirty="0">
                <a:solidFill>
                  <a:srgbClr val="1E293B"/>
                </a:solidFill>
              </a:rPr>
              <a:t> </a:t>
            </a:r>
            <a:r>
              <a:rPr lang="en-US" sz="1050" b="0" dirty="0" smtClean="0">
                <a:solidFill>
                  <a:srgbClr val="1E293B"/>
                </a:solidFill>
              </a:rPr>
              <a:t>-</a:t>
            </a:r>
            <a:r>
              <a:rPr sz="1050" b="0" dirty="0" smtClean="0">
                <a:solidFill>
                  <a:srgbClr val="1E293B"/>
                </a:solidFill>
              </a:rPr>
              <a:t> </a:t>
            </a:r>
            <a:r>
              <a:rPr sz="1050" b="0" dirty="0">
                <a:solidFill>
                  <a:srgbClr val="1E293B"/>
                </a:solidFill>
              </a:rPr>
              <a:t>future work </a:t>
            </a:r>
            <a:r>
              <a:rPr sz="1050" b="0" dirty="0" err="1">
                <a:solidFill>
                  <a:srgbClr val="1E293B"/>
                </a:solidFill>
              </a:rPr>
              <a:t>γι</a:t>
            </a:r>
            <a:r>
              <a:rPr sz="1050" b="0" dirty="0">
                <a:solidFill>
                  <a:srgbClr val="1E293B"/>
                </a:solidFill>
              </a:rPr>
              <a:t>α cross-validation.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</a:rPr>
              <a:t>Συνοπτικό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220799"/>
              </p:ext>
            </p:extLst>
          </p:nvPr>
        </p:nvGraphicFramePr>
        <p:xfrm>
          <a:off x="320040" y="777240"/>
          <a:ext cx="113385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3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57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Διάστ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αση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v3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Τάση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E293B"/>
                          </a:solidFill>
                        </a:rPr>
                        <a:t>Context Precision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0.163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0.190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0.166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v2&gt;v1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Context 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0.354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v3 BEST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Faithfulness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0.306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0.292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0.284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v1&gt;v2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E293B"/>
                          </a:solidFill>
                        </a:rPr>
                        <a:t>Answer Relevancy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0.477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v1&gt;v2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Tool Call Accuracy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0.619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0.298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0.298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v1&gt;v2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HAIC Helpfulness (v1)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3.756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v1&gt;v2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HAIC Judge Score (v2+)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2.583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4.024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v3 BEST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HAIC Accept Rate (v2+)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0.464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E293B"/>
                          </a:solidFill>
                        </a:rPr>
                        <a:t>v3 BEST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86265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Βασικά Μοτίβα από το Scorecard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520" y="4072777"/>
            <a:ext cx="5577840" cy="822960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70313"/>
            <a:ext cx="5349240" cy="274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16A34A"/>
                </a:solidFill>
              </a:rPr>
              <a:t>v3 Best on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53777"/>
            <a:ext cx="5349240" cy="41148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1E293B"/>
                </a:solidFill>
              </a:rPr>
              <a:t>Context Precision +29.4% (0.163→0.211 overall, 0.961 definitional). Diversity </a:t>
            </a:r>
            <a:r>
              <a:rPr sz="900" b="0" dirty="0" err="1">
                <a:solidFill>
                  <a:srgbClr val="1E293B"/>
                </a:solidFill>
              </a:rPr>
              <a:t>reranking</a:t>
            </a:r>
            <a:r>
              <a:rPr sz="900" b="0" dirty="0">
                <a:solidFill>
                  <a:srgbClr val="1E293B"/>
                </a:solidFill>
              </a:rPr>
              <a:t>: CR +6.8% overall, +25% in-context (IC CR: 0.354→0.378).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106305"/>
            <a:ext cx="5577840" cy="822960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4170313"/>
            <a:ext cx="5349240" cy="274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</a:rPr>
              <a:t>OOC Dilution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453777"/>
            <a:ext cx="5349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1E293B"/>
                </a:solidFill>
              </a:rPr>
              <a:t>Overall CP≈0.2 φα</a:t>
            </a:r>
            <a:r>
              <a:rPr sz="900" b="0" dirty="0" err="1">
                <a:solidFill>
                  <a:srgbClr val="1E293B"/>
                </a:solidFill>
              </a:rPr>
              <a:t>ίνετ</a:t>
            </a:r>
            <a:r>
              <a:rPr sz="900" b="0" dirty="0">
                <a:solidFill>
                  <a:srgbClr val="1E293B"/>
                </a:solidFill>
              </a:rPr>
              <a:t>αι χαμηλό. In-context (25 Qs): v3 CP=55.8%, Faith=64.7%. 59 OOC Qs </a:t>
            </a:r>
            <a:r>
              <a:rPr sz="900" b="0" dirty="0" err="1">
                <a:solidFill>
                  <a:srgbClr val="1E293B"/>
                </a:solidFill>
              </a:rPr>
              <a:t>με</a:t>
            </a:r>
            <a:r>
              <a:rPr sz="900" b="0" dirty="0">
                <a:solidFill>
                  <a:srgbClr val="1E293B"/>
                </a:solidFill>
              </a:rPr>
              <a:t> CP≈0 dilute </a:t>
            </a:r>
            <a:r>
              <a:rPr sz="900" b="0" dirty="0" err="1">
                <a:solidFill>
                  <a:srgbClr val="1E293B"/>
                </a:solidFill>
              </a:rPr>
              <a:t>το</a:t>
            </a:r>
            <a:r>
              <a:rPr sz="900" b="0" dirty="0">
                <a:solidFill>
                  <a:srgbClr val="1E293B"/>
                </a:solidFill>
              </a:rPr>
              <a:t> average </a:t>
            </a:r>
            <a:r>
              <a:rPr lang="en-US" sz="900" b="0" dirty="0" smtClean="0">
                <a:solidFill>
                  <a:srgbClr val="1E293B"/>
                </a:solidFill>
              </a:rPr>
              <a:t>-</a:t>
            </a:r>
            <a:r>
              <a:rPr sz="900" b="0" dirty="0" smtClean="0">
                <a:solidFill>
                  <a:srgbClr val="1E293B"/>
                </a:solidFill>
              </a:rPr>
              <a:t> </a:t>
            </a:r>
            <a:r>
              <a:rPr sz="900" b="0" dirty="0">
                <a:solidFill>
                  <a:srgbClr val="1E293B"/>
                </a:solidFill>
              </a:rPr>
              <a:t>ανα</a:t>
            </a:r>
            <a:r>
              <a:rPr sz="900" b="0" dirty="0" err="1">
                <a:solidFill>
                  <a:srgbClr val="1E293B"/>
                </a:solidFill>
              </a:rPr>
              <a:t>μενόμενο</a:t>
            </a:r>
            <a:r>
              <a:rPr sz="900" b="0" dirty="0">
                <a:solidFill>
                  <a:srgbClr val="1E293B"/>
                </a:solidFill>
              </a:rPr>
              <a:t> &amp; επ</a:t>
            </a:r>
            <a:r>
              <a:rPr sz="900" b="0" dirty="0" err="1">
                <a:solidFill>
                  <a:srgbClr val="1E293B"/>
                </a:solidFill>
              </a:rPr>
              <a:t>ιθυμητό</a:t>
            </a:r>
            <a:r>
              <a:rPr sz="900" b="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38993"/>
            <a:ext cx="5577840" cy="822960"/>
          </a:xfrm>
          <a:prstGeom prst="rect">
            <a:avLst/>
          </a:prstGeom>
          <a:solidFill>
            <a:schemeClr val="bg1"/>
          </a:solidFill>
          <a:ln w="222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103001"/>
            <a:ext cx="5349240" cy="274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</a:rPr>
              <a:t>HAIC Judge 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86465"/>
            <a:ext cx="5349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1E293B"/>
                </a:solidFill>
              </a:rPr>
              <a:t>v2→v3: Judge Score +0.31 (3.48→3.79), Accept Rate +8% (71%→79%). OOC </a:t>
            </a:r>
            <a:r>
              <a:rPr sz="900" b="0" dirty="0" err="1">
                <a:solidFill>
                  <a:srgbClr val="1E293B"/>
                </a:solidFill>
              </a:rPr>
              <a:t>judge_score</a:t>
            </a:r>
            <a:r>
              <a:rPr sz="900" b="0" dirty="0">
                <a:solidFill>
                  <a:srgbClr val="1E293B"/>
                </a:solidFill>
              </a:rPr>
              <a:t>=4.46/5 </a:t>
            </a:r>
            <a:r>
              <a:rPr lang="en-US" sz="900" b="0" dirty="0" smtClean="0">
                <a:solidFill>
                  <a:srgbClr val="1E293B"/>
                </a:solidFill>
              </a:rPr>
              <a:t>-</a:t>
            </a:r>
            <a:r>
              <a:rPr sz="900" b="0" dirty="0" smtClean="0">
                <a:solidFill>
                  <a:srgbClr val="1E293B"/>
                </a:solidFill>
              </a:rPr>
              <a:t> </a:t>
            </a:r>
            <a:r>
              <a:rPr sz="900" b="0" dirty="0">
                <a:solidFill>
                  <a:srgbClr val="1E293B"/>
                </a:solidFill>
              </a:rPr>
              <a:t>agent α</a:t>
            </a:r>
            <a:r>
              <a:rPr sz="900" b="0" dirty="0" err="1">
                <a:solidFill>
                  <a:srgbClr val="1E293B"/>
                </a:solidFill>
              </a:rPr>
              <a:t>ρνείτ</a:t>
            </a:r>
            <a:r>
              <a:rPr sz="900" b="0" dirty="0">
                <a:solidFill>
                  <a:srgbClr val="1E293B"/>
                </a:solidFill>
              </a:rPr>
              <a:t>αι σωστά, politely, σχεδόν πάντα.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5038993"/>
            <a:ext cx="5577840" cy="822960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5103001"/>
            <a:ext cx="5349240" cy="274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TCA Perfect 4/6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386465"/>
            <a:ext cx="5349240" cy="41148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Definitional/Comparative/Methodological/Attribution: TCA=1.0 (τέλεια). OOC TCA=0.0: agent αρνείται χωρίς tool calls = ορθή αγεντική συμπεριφορά.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520" y="6114377"/>
            <a:ext cx="1143000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680" y="6141809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6A34A"/>
                </a:solidFill>
              </a:rPr>
              <a:t>Overall scores diluted από 59 OOC </a:t>
            </a:r>
            <a:r>
              <a:rPr sz="1100" b="0" dirty="0" err="1">
                <a:solidFill>
                  <a:srgbClr val="16A34A"/>
                </a:solidFill>
              </a:rPr>
              <a:t>ερωτήσεις</a:t>
            </a:r>
            <a:r>
              <a:rPr sz="1100" b="0" dirty="0">
                <a:solidFill>
                  <a:srgbClr val="16A34A"/>
                </a:solidFill>
              </a:rPr>
              <a:t> (CP≈0, Faith≈0.1). In-context (25 Qs): v3 CP=55.8%, CR=59.0%, Faith=64.7%. v3 CR +25% overall </a:t>
            </a:r>
            <a:r>
              <a:rPr lang="en-US" sz="1100" b="0" dirty="0" smtClean="0">
                <a:solidFill>
                  <a:srgbClr val="16A34A"/>
                </a:solidFill>
              </a:rPr>
              <a:t>-</a:t>
            </a:r>
            <a:r>
              <a:rPr sz="1100" b="0" dirty="0" smtClean="0">
                <a:solidFill>
                  <a:srgbClr val="16A34A"/>
                </a:solidFill>
              </a:rPr>
              <a:t> </a:t>
            </a:r>
            <a:r>
              <a:rPr sz="1100" b="0" dirty="0">
                <a:solidFill>
                  <a:srgbClr val="16A34A"/>
                </a:solidFill>
              </a:rPr>
              <a:t>diversity </a:t>
            </a:r>
            <a:r>
              <a:rPr sz="1100" b="0" dirty="0" err="1">
                <a:solidFill>
                  <a:srgbClr val="16A34A"/>
                </a:solidFill>
              </a:rPr>
              <a:t>reranking</a:t>
            </a:r>
            <a:r>
              <a:rPr sz="1100" b="0" dirty="0">
                <a:solidFill>
                  <a:srgbClr val="16A34A"/>
                </a:solidFill>
              </a:rPr>
              <a:t>. Definitional v3 CP=0.961 (best </a:t>
            </a:r>
            <a:r>
              <a:rPr sz="1100" b="0" dirty="0" err="1">
                <a:solidFill>
                  <a:srgbClr val="16A34A"/>
                </a:solidFill>
              </a:rPr>
              <a:t>σε</a:t>
            </a:r>
            <a:r>
              <a:rPr sz="1100" b="0" dirty="0">
                <a:solidFill>
                  <a:srgbClr val="16A34A"/>
                </a:solidFill>
              </a:rPr>
              <a:t> </a:t>
            </a:r>
            <a:r>
              <a:rPr sz="1100" b="0" dirty="0" err="1">
                <a:solidFill>
                  <a:srgbClr val="16A34A"/>
                </a:solidFill>
              </a:rPr>
              <a:t>όλες</a:t>
            </a:r>
            <a:r>
              <a:rPr sz="1100" b="0" dirty="0">
                <a:solidFill>
                  <a:srgbClr val="16A34A"/>
                </a:solidFill>
              </a:rPr>
              <a:t> </a:t>
            </a:r>
            <a:r>
              <a:rPr sz="1100" b="0" dirty="0" err="1">
                <a:solidFill>
                  <a:srgbClr val="16A34A"/>
                </a:solidFill>
              </a:rPr>
              <a:t>τις</a:t>
            </a:r>
            <a:r>
              <a:rPr sz="1100" b="0" dirty="0">
                <a:solidFill>
                  <a:srgbClr val="16A34A"/>
                </a:solidFill>
              </a:rPr>
              <a:t> </a:t>
            </a:r>
            <a:r>
              <a:rPr sz="1100" b="0" dirty="0" err="1">
                <a:solidFill>
                  <a:srgbClr val="16A34A"/>
                </a:solidFill>
              </a:rPr>
              <a:t>εκδόσεις</a:t>
            </a:r>
            <a:r>
              <a:rPr sz="1100" b="0" dirty="0">
                <a:solidFill>
                  <a:srgbClr val="16A34A"/>
                </a:solidFill>
              </a:rPr>
              <a:t>).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73152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</a:rPr>
              <a:t>Demo </a:t>
            </a:r>
            <a:r>
              <a:rPr lang="en-US" sz="2200" b="1" dirty="0" smtClean="0">
                <a:solidFill>
                  <a:srgbClr val="FFFFFF"/>
                </a:solidFill>
              </a:rPr>
              <a:t>-</a:t>
            </a:r>
            <a:r>
              <a:rPr sz="2200" b="1" dirty="0" smtClean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Σύστημ</a:t>
            </a:r>
            <a:r>
              <a:rPr sz="2200" b="1" dirty="0">
                <a:solidFill>
                  <a:srgbClr val="FFFFFF"/>
                </a:solidFill>
              </a:rPr>
              <a:t>α σε Δράση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0954" y="142035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64748B"/>
                </a:solidFill>
              </a:rPr>
              <a:t>Live streaming: Planner → Researcher (retrieved 6 chunks) → Synthesizer  ·  v3  ·  ~30s</a:t>
            </a:r>
          </a:p>
        </p:txBody>
      </p:sp>
      <p:pic>
        <p:nvPicPr>
          <p:cNvPr id="6" name="Picture 5" descr="demo_image10.png"/>
          <p:cNvPicPr>
            <a:picLocks noChangeAspect="1"/>
          </p:cNvPicPr>
          <p:nvPr/>
        </p:nvPicPr>
        <p:blipFill rotWithShape="1">
          <a:blip r:embed="rId2"/>
          <a:srcRect l="385" t="-82" r="-385" b="49918"/>
          <a:stretch/>
        </p:blipFill>
        <p:spPr>
          <a:xfrm>
            <a:off x="5047122" y="347183"/>
            <a:ext cx="3474333" cy="5440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4831" y="4785653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</a:rPr>
              <a:t>v3 Profile Selector </a:t>
            </a:r>
            <a:r>
              <a:rPr lang="en-US" sz="900" b="0" dirty="0" smtClean="0">
                <a:solidFill>
                  <a:srgbClr val="64748B"/>
                </a:solidFill>
              </a:rPr>
              <a:t>-</a:t>
            </a:r>
            <a:r>
              <a:rPr sz="900" b="0" dirty="0" smtClean="0">
                <a:solidFill>
                  <a:srgbClr val="64748B"/>
                </a:solidFill>
              </a:rPr>
              <a:t> </a:t>
            </a:r>
            <a:r>
              <a:rPr sz="900" b="0" dirty="0">
                <a:solidFill>
                  <a:srgbClr val="64748B"/>
                </a:solidFill>
              </a:rPr>
              <a:t>v1/v2/v3 live via </a:t>
            </a:r>
            <a:r>
              <a:rPr sz="900" b="0" dirty="0" err="1">
                <a:solidFill>
                  <a:srgbClr val="64748B"/>
                </a:solidFill>
              </a:rPr>
              <a:t>Chainlit</a:t>
            </a:r>
            <a:endParaRPr sz="900" b="0" dirty="0">
              <a:solidFill>
                <a:srgbClr val="64748B"/>
              </a:solidFill>
            </a:endParaRPr>
          </a:p>
          <a:p>
            <a:pPr algn="l"/>
            <a:endParaRPr sz="900" b="0" dirty="0">
              <a:solidFill>
                <a:srgbClr val="64748B"/>
              </a:solidFill>
            </a:endParaRPr>
          </a:p>
          <a:p>
            <a:pPr algn="l"/>
            <a:endParaRPr sz="900" b="0" dirty="0">
              <a:solidFill>
                <a:srgbClr val="64748B"/>
              </a:solidFill>
            </a:endParaRPr>
          </a:p>
          <a:p>
            <a:pPr algn="l"/>
            <a:endParaRPr sz="900" b="0" dirty="0">
              <a:solidFill>
                <a:srgbClr val="64748B"/>
              </a:solidFill>
            </a:endParaRPr>
          </a:p>
        </p:txBody>
      </p:sp>
      <p:pic>
        <p:nvPicPr>
          <p:cNvPr id="8" name="Picture 7" descr="demo_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30877"/>
            <a:ext cx="3962400" cy="1512916"/>
          </a:xfrm>
          <a:prstGeom prst="rect">
            <a:avLst/>
          </a:prstGeom>
        </p:spPr>
      </p:pic>
      <p:pic>
        <p:nvPicPr>
          <p:cNvPr id="10" name="Picture 9" descr="demo_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68" y="774193"/>
            <a:ext cx="2930757" cy="44074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104826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 err="1">
                <a:solidFill>
                  <a:srgbClr val="64748B"/>
                </a:solidFill>
              </a:rPr>
              <a:t>Chainlit</a:t>
            </a:r>
            <a:r>
              <a:rPr sz="900" b="0" dirty="0">
                <a:solidFill>
                  <a:srgbClr val="64748B"/>
                </a:solidFill>
              </a:rPr>
              <a:t> </a:t>
            </a:r>
            <a:r>
              <a:rPr sz="900" b="0" dirty="0" smtClean="0">
                <a:solidFill>
                  <a:srgbClr val="64748B"/>
                </a:solidFill>
              </a:rPr>
              <a:t>UI</a:t>
            </a:r>
            <a:r>
              <a:rPr lang="el-GR" sz="900" dirty="0">
                <a:solidFill>
                  <a:srgbClr val="64748B"/>
                </a:solidFill>
              </a:rPr>
              <a:t> </a:t>
            </a:r>
            <a:r>
              <a:rPr lang="el-GR" sz="900" dirty="0" smtClean="0">
                <a:solidFill>
                  <a:srgbClr val="64748B"/>
                </a:solidFill>
              </a:rPr>
              <a:t>- </a:t>
            </a:r>
            <a:r>
              <a:rPr sz="900" b="0" dirty="0" smtClean="0">
                <a:solidFill>
                  <a:srgbClr val="64748B"/>
                </a:solidFill>
              </a:rPr>
              <a:t>http</a:t>
            </a:r>
            <a:r>
              <a:rPr sz="900" b="0" dirty="0">
                <a:solidFill>
                  <a:srgbClr val="64748B"/>
                </a:solidFill>
              </a:rPr>
              <a:t>://localhost:8000  </a:t>
            </a:r>
            <a:r>
              <a:rPr lang="el-GR" sz="900" b="0" dirty="0" smtClean="0">
                <a:solidFill>
                  <a:srgbClr val="64748B"/>
                </a:solidFill>
              </a:rPr>
              <a:t>-</a:t>
            </a:r>
            <a:r>
              <a:rPr sz="900" b="0" dirty="0" smtClean="0">
                <a:solidFill>
                  <a:srgbClr val="64748B"/>
                </a:solidFill>
              </a:rPr>
              <a:t>  </a:t>
            </a:r>
            <a:r>
              <a:rPr sz="900" b="0" dirty="0">
                <a:solidFill>
                  <a:srgbClr val="64748B"/>
                </a:solidFill>
              </a:rPr>
              <a:t>Docker Compose  </a:t>
            </a:r>
            <a:r>
              <a:rPr lang="el-GR" sz="900" b="0" dirty="0" smtClean="0">
                <a:solidFill>
                  <a:srgbClr val="64748B"/>
                </a:solidFill>
              </a:rPr>
              <a:t>-</a:t>
            </a:r>
            <a:r>
              <a:rPr sz="900" b="0" dirty="0" smtClean="0">
                <a:solidFill>
                  <a:srgbClr val="64748B"/>
                </a:solidFill>
              </a:rPr>
              <a:t>  </a:t>
            </a:r>
            <a:r>
              <a:rPr sz="900" b="0" dirty="0" err="1">
                <a:solidFill>
                  <a:srgbClr val="64748B"/>
                </a:solidFill>
              </a:rPr>
              <a:t>Qdrant</a:t>
            </a:r>
            <a:r>
              <a:rPr sz="900" b="0" dirty="0">
                <a:solidFill>
                  <a:srgbClr val="64748B"/>
                </a:solidFill>
              </a:rPr>
              <a:t> + </a:t>
            </a:r>
            <a:r>
              <a:rPr sz="900" b="0" dirty="0" err="1">
                <a:solidFill>
                  <a:srgbClr val="64748B"/>
                </a:solidFill>
              </a:rPr>
              <a:t>Langfuse</a:t>
            </a:r>
            <a:r>
              <a:rPr sz="900" b="0" dirty="0">
                <a:solidFill>
                  <a:srgbClr val="64748B"/>
                </a:solidFill>
              </a:rPr>
              <a:t> self-hosted</a:t>
            </a:r>
          </a:p>
        </p:txBody>
      </p:sp>
      <p:pic>
        <p:nvPicPr>
          <p:cNvPr id="12" name="Picture 11" descr="demo_image10.png"/>
          <p:cNvPicPr>
            <a:picLocks noChangeAspect="1"/>
          </p:cNvPicPr>
          <p:nvPr/>
        </p:nvPicPr>
        <p:blipFill rotWithShape="1">
          <a:blip r:embed="rId2"/>
          <a:srcRect t="50163" b="1318"/>
          <a:stretch/>
        </p:blipFill>
        <p:spPr>
          <a:xfrm>
            <a:off x="708508" y="627468"/>
            <a:ext cx="3163844" cy="40746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15194" y="5246829"/>
            <a:ext cx="6217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Κόστος</a:t>
            </a:r>
            <a:r>
              <a:rPr sz="9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α</a:t>
            </a:r>
            <a:r>
              <a:rPr sz="9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νά</a:t>
            </a:r>
            <a:r>
              <a:rPr sz="9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9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ερώτηση</a:t>
            </a:r>
            <a:r>
              <a:rPr sz="9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l-GR" sz="9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sz="9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sz="900" b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Langfuse</a:t>
            </a:r>
            <a:r>
              <a:rPr sz="9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trace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27" y="649728"/>
            <a:ext cx="12188952" cy="548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512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 smtClean="0">
                <a:solidFill>
                  <a:srgbClr val="FFFFFF"/>
                </a:solidFill>
              </a:rPr>
              <a:t>Συμ</a:t>
            </a:r>
            <a:r>
              <a:rPr sz="3000" b="1" dirty="0" smtClean="0">
                <a:solidFill>
                  <a:srgbClr val="FFFFFF"/>
                </a:solidFill>
              </a:rPr>
              <a:t>περάσματα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47" y="1084700"/>
            <a:ext cx="11445240" cy="837242"/>
          </a:xfrm>
          <a:prstGeom prst="rect">
            <a:avLst/>
          </a:prstGeom>
          <a:solidFill>
            <a:srgbClr val="1E3A5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7" name="TextBox 6"/>
          <p:cNvSpPr txBox="1"/>
          <p:nvPr/>
        </p:nvSpPr>
        <p:spPr>
          <a:xfrm>
            <a:off x="502906" y="1075214"/>
            <a:ext cx="1097617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Agentic RAG &gt; passive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09" y="1445557"/>
            <a:ext cx="10976173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0CBDC"/>
                </a:solidFill>
              </a:rPr>
              <a:t>Ο </a:t>
            </a:r>
            <a:r>
              <a:rPr sz="1100" b="0" dirty="0" err="1">
                <a:solidFill>
                  <a:srgbClr val="C0CBDC"/>
                </a:solidFill>
              </a:rPr>
              <a:t>ReAct</a:t>
            </a:r>
            <a:r>
              <a:rPr sz="1100" b="0" dirty="0">
                <a:solidFill>
                  <a:srgbClr val="C0CBDC"/>
                </a:solidFill>
              </a:rPr>
              <a:t> agent απ</a:t>
            </a:r>
            <a:r>
              <a:rPr sz="1100" b="0" dirty="0" err="1">
                <a:solidFill>
                  <a:srgbClr val="C0CBDC"/>
                </a:solidFill>
              </a:rPr>
              <a:t>οφ</a:t>
            </a:r>
            <a:r>
              <a:rPr sz="1100" b="0" dirty="0">
                <a:solidFill>
                  <a:srgbClr val="C0CBDC"/>
                </a:solidFill>
              </a:rPr>
              <a:t>ασίζει ΠΟΤΕ να ανακτήσει και ΠΟΤΕ να αρνηθεί. OOC accept rate v3=86.4% </a:t>
            </a:r>
            <a:r>
              <a:rPr lang="en-US" sz="1100" b="0" dirty="0" smtClean="0">
                <a:solidFill>
                  <a:srgbClr val="C0CBDC"/>
                </a:solidFill>
              </a:rPr>
              <a:t>-</a:t>
            </a:r>
            <a:r>
              <a:rPr sz="1100" b="0" dirty="0" smtClean="0">
                <a:solidFill>
                  <a:srgbClr val="C0CBDC"/>
                </a:solidFill>
              </a:rPr>
              <a:t> </a:t>
            </a:r>
            <a:r>
              <a:rPr sz="1100" b="0" dirty="0" err="1">
                <a:solidFill>
                  <a:srgbClr val="C0CBDC"/>
                </a:solidFill>
              </a:rPr>
              <a:t>χωρίς</a:t>
            </a:r>
            <a:r>
              <a:rPr sz="1100" b="0" dirty="0">
                <a:solidFill>
                  <a:srgbClr val="C0CBDC"/>
                </a:solidFill>
              </a:rPr>
              <a:t> agent logic α</a:t>
            </a:r>
            <a:r>
              <a:rPr sz="1100" b="0" dirty="0" err="1">
                <a:solidFill>
                  <a:srgbClr val="C0CBDC"/>
                </a:solidFill>
              </a:rPr>
              <a:t>υτό</a:t>
            </a:r>
            <a:r>
              <a:rPr sz="1100" b="0" dirty="0">
                <a:solidFill>
                  <a:srgbClr val="C0CBDC"/>
                </a:solidFill>
              </a:rPr>
              <a:t> </a:t>
            </a:r>
            <a:r>
              <a:rPr sz="1100" b="0" dirty="0" err="1">
                <a:solidFill>
                  <a:srgbClr val="C0CBDC"/>
                </a:solidFill>
              </a:rPr>
              <a:t>είν</a:t>
            </a:r>
            <a:r>
              <a:rPr sz="1100" b="0" dirty="0">
                <a:solidFill>
                  <a:srgbClr val="C0CBDC"/>
                </a:solidFill>
              </a:rPr>
              <a:t>αι αδύνατο. Passive RAG θα hallucinate </a:t>
            </a:r>
            <a:r>
              <a:rPr sz="1100" b="0" dirty="0" err="1">
                <a:solidFill>
                  <a:srgbClr val="C0CBDC"/>
                </a:solidFill>
              </a:rPr>
              <a:t>σε</a:t>
            </a:r>
            <a:r>
              <a:rPr sz="1100" b="0" dirty="0">
                <a:solidFill>
                  <a:srgbClr val="C0CBDC"/>
                </a:solidFill>
              </a:rPr>
              <a:t> 59/84 OOC </a:t>
            </a:r>
            <a:r>
              <a:rPr sz="1100" b="0" dirty="0" err="1">
                <a:solidFill>
                  <a:srgbClr val="C0CBDC"/>
                </a:solidFill>
              </a:rPr>
              <a:t>ερωτήσεις</a:t>
            </a:r>
            <a:r>
              <a:rPr sz="1100" b="0" dirty="0">
                <a:solidFill>
                  <a:srgbClr val="C0CBDC"/>
                </a:solidFill>
              </a:rPr>
              <a:t>, </a:t>
            </a:r>
            <a:r>
              <a:rPr sz="1100" b="0" dirty="0" err="1">
                <a:solidFill>
                  <a:srgbClr val="C0CBDC"/>
                </a:solidFill>
              </a:rPr>
              <a:t>χωρίς</a:t>
            </a:r>
            <a:r>
              <a:rPr sz="1100" b="0" dirty="0">
                <a:solidFill>
                  <a:srgbClr val="C0CBDC"/>
                </a:solidFill>
              </a:rPr>
              <a:t> να </a:t>
            </a:r>
            <a:r>
              <a:rPr sz="1100" b="0" dirty="0" err="1">
                <a:solidFill>
                  <a:srgbClr val="C0CBDC"/>
                </a:solidFill>
              </a:rPr>
              <a:t>το</a:t>
            </a:r>
            <a:r>
              <a:rPr sz="1100" b="0" dirty="0">
                <a:solidFill>
                  <a:srgbClr val="C0CBDC"/>
                </a:solidFill>
              </a:rPr>
              <a:t> '</a:t>
            </a:r>
            <a:r>
              <a:rPr sz="1100" b="0" dirty="0" err="1">
                <a:solidFill>
                  <a:srgbClr val="C0CBDC"/>
                </a:solidFill>
              </a:rPr>
              <a:t>ξέρει</a:t>
            </a:r>
            <a:r>
              <a:rPr sz="1100" b="0" dirty="0">
                <a:solidFill>
                  <a:srgbClr val="C0CBDC"/>
                </a:solidFill>
              </a:rPr>
              <a:t>'.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45" y="2014966"/>
            <a:ext cx="11445240" cy="69820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1" name="TextBox 10"/>
          <p:cNvSpPr txBox="1"/>
          <p:nvPr/>
        </p:nvSpPr>
        <p:spPr>
          <a:xfrm>
            <a:off x="502904" y="2005479"/>
            <a:ext cx="1097617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Chunking strategy &gt; embedding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899" y="2296640"/>
            <a:ext cx="10976173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0CBDC"/>
                </a:solidFill>
              </a:rPr>
              <a:t>Section-aware chunking + BGE </a:t>
            </a:r>
            <a:r>
              <a:rPr sz="1100" b="0" dirty="0" err="1">
                <a:solidFill>
                  <a:srgbClr val="C0CBDC"/>
                </a:solidFill>
              </a:rPr>
              <a:t>reranker</a:t>
            </a:r>
            <a:r>
              <a:rPr sz="1100" b="0" dirty="0">
                <a:solidFill>
                  <a:srgbClr val="C0CBDC"/>
                </a:solidFill>
              </a:rPr>
              <a:t>: +17% Context Precision (0.163→0.190). Table-aware </a:t>
            </a:r>
            <a:r>
              <a:rPr sz="1100" b="0" dirty="0" err="1">
                <a:solidFill>
                  <a:srgbClr val="C0CBDC"/>
                </a:solidFill>
              </a:rPr>
              <a:t>chunker</a:t>
            </a:r>
            <a:r>
              <a:rPr sz="1100" b="0" dirty="0">
                <a:solidFill>
                  <a:srgbClr val="C0CBDC"/>
                </a:solidFill>
              </a:rPr>
              <a:t>: numerical faithfulness fix. Η π</a:t>
            </a:r>
            <a:r>
              <a:rPr sz="1100" b="0" dirty="0" err="1">
                <a:solidFill>
                  <a:srgbClr val="C0CBDC"/>
                </a:solidFill>
              </a:rPr>
              <a:t>οιότητ</a:t>
            </a:r>
            <a:r>
              <a:rPr sz="1100" b="0" dirty="0">
                <a:solidFill>
                  <a:srgbClr val="C0CBDC"/>
                </a:solidFill>
              </a:rPr>
              <a:t>α των chunks και του reranker σημαίνει περισσότερο από το embedding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43" y="2784502"/>
            <a:ext cx="11445240" cy="780518"/>
          </a:xfrm>
          <a:prstGeom prst="rect">
            <a:avLst/>
          </a:prstGeom>
          <a:solidFill>
            <a:srgbClr val="1E3A5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TextBox 14"/>
          <p:cNvSpPr txBox="1"/>
          <p:nvPr/>
        </p:nvSpPr>
        <p:spPr>
          <a:xfrm>
            <a:off x="502902" y="2775016"/>
            <a:ext cx="1097617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Multi-metric evaluation είναι απαραίτητη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897" y="3066177"/>
            <a:ext cx="10976173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0CBDC"/>
                </a:solidFill>
              </a:rPr>
              <a:t>RAGAS </a:t>
            </a:r>
            <a:r>
              <a:rPr sz="1100" b="0" dirty="0" err="1">
                <a:solidFill>
                  <a:srgbClr val="C0CBDC"/>
                </a:solidFill>
              </a:rPr>
              <a:t>μόνο</a:t>
            </a:r>
            <a:r>
              <a:rPr sz="1100" b="0" dirty="0">
                <a:solidFill>
                  <a:srgbClr val="C0CBDC"/>
                </a:solidFill>
              </a:rPr>
              <a:t>: diluted από 59 OOC </a:t>
            </a:r>
            <a:r>
              <a:rPr sz="1100" b="0" dirty="0" err="1">
                <a:solidFill>
                  <a:srgbClr val="C0CBDC"/>
                </a:solidFill>
              </a:rPr>
              <a:t>ερωτήσεις</a:t>
            </a:r>
            <a:r>
              <a:rPr sz="1100" b="0" dirty="0">
                <a:solidFill>
                  <a:srgbClr val="C0CBDC"/>
                </a:solidFill>
              </a:rPr>
              <a:t>, CP≈0 overall. TCA </a:t>
            </a:r>
            <a:r>
              <a:rPr sz="1100" b="0" dirty="0" err="1">
                <a:solidFill>
                  <a:srgbClr val="C0CBDC"/>
                </a:solidFill>
              </a:rPr>
              <a:t>μετρά</a:t>
            </a:r>
            <a:r>
              <a:rPr sz="1100" b="0" dirty="0">
                <a:solidFill>
                  <a:srgbClr val="C0CBDC"/>
                </a:solidFill>
              </a:rPr>
              <a:t> agentic tool behavior (</a:t>
            </a:r>
            <a:r>
              <a:rPr sz="1100" b="0" dirty="0" err="1">
                <a:solidFill>
                  <a:srgbClr val="C0CBDC"/>
                </a:solidFill>
              </a:rPr>
              <a:t>sωστά</a:t>
            </a:r>
            <a:r>
              <a:rPr sz="1100" b="0" dirty="0">
                <a:solidFill>
                  <a:srgbClr val="C0CBDC"/>
                </a:solidFill>
              </a:rPr>
              <a:t> tools, </a:t>
            </a:r>
            <a:r>
              <a:rPr sz="1100" b="0" dirty="0" err="1">
                <a:solidFill>
                  <a:srgbClr val="C0CBDC"/>
                </a:solidFill>
              </a:rPr>
              <a:t>σωστή</a:t>
            </a:r>
            <a:r>
              <a:rPr sz="1100" b="0" dirty="0">
                <a:solidFill>
                  <a:srgbClr val="C0CBDC"/>
                </a:solidFill>
              </a:rPr>
              <a:t> </a:t>
            </a:r>
            <a:r>
              <a:rPr sz="1100" b="0" dirty="0" err="1">
                <a:solidFill>
                  <a:srgbClr val="C0CBDC"/>
                </a:solidFill>
              </a:rPr>
              <a:t>σειρά</a:t>
            </a:r>
            <a:r>
              <a:rPr sz="1100" b="0" dirty="0">
                <a:solidFill>
                  <a:srgbClr val="C0CBDC"/>
                </a:solidFill>
              </a:rPr>
              <a:t>). HAIC </a:t>
            </a:r>
            <a:r>
              <a:rPr sz="1100" b="0" dirty="0" err="1">
                <a:solidFill>
                  <a:srgbClr val="C0CBDC"/>
                </a:solidFill>
              </a:rPr>
              <a:t>μετρά</a:t>
            </a:r>
            <a:r>
              <a:rPr sz="1100" b="0" dirty="0">
                <a:solidFill>
                  <a:srgbClr val="C0CBDC"/>
                </a:solidFill>
              </a:rPr>
              <a:t> perceived usefulness + trust. </a:t>
            </a:r>
            <a:r>
              <a:rPr sz="1100" b="0" dirty="0" err="1">
                <a:solidFill>
                  <a:srgbClr val="C0CBDC"/>
                </a:solidFill>
              </a:rPr>
              <a:t>Χρειάζοντ</a:t>
            </a:r>
            <a:r>
              <a:rPr sz="1100" b="0" dirty="0">
                <a:solidFill>
                  <a:srgbClr val="C0CBDC"/>
                </a:solidFill>
              </a:rPr>
              <a:t>αι και οι 3 μετρικές.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39" y="3645836"/>
            <a:ext cx="11445241" cy="738920"/>
          </a:xfrm>
          <a:prstGeom prst="rect">
            <a:avLst/>
          </a:prstGeom>
          <a:solidFill>
            <a:srgbClr val="1E3A5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502900" y="3636350"/>
            <a:ext cx="1097617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OOC-aware judge = honest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895" y="3927511"/>
            <a:ext cx="10976174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0CBDC"/>
                </a:solidFill>
              </a:rPr>
              <a:t>Score=5 </a:t>
            </a:r>
            <a:r>
              <a:rPr sz="1100" b="0" dirty="0" err="1">
                <a:solidFill>
                  <a:srgbClr val="C0CBDC"/>
                </a:solidFill>
              </a:rPr>
              <a:t>γι</a:t>
            </a:r>
            <a:r>
              <a:rPr sz="1100" b="0" dirty="0">
                <a:solidFill>
                  <a:srgbClr val="C0CBDC"/>
                </a:solidFill>
              </a:rPr>
              <a:t>α σωστή άρνηση: αποφεύγεται η παρά-κίνηση για hallucination. </a:t>
            </a:r>
            <a:r>
              <a:rPr sz="1100" b="0" dirty="0" err="1">
                <a:solidFill>
                  <a:srgbClr val="C0CBDC"/>
                </a:solidFill>
              </a:rPr>
              <a:t>Χωρίς</a:t>
            </a:r>
            <a:r>
              <a:rPr sz="1100" b="0" dirty="0">
                <a:solidFill>
                  <a:srgbClr val="C0CBDC"/>
                </a:solidFill>
              </a:rPr>
              <a:t> OOC set: hallucinating system → RAGAS CP=1.0 (false positive). v3 OOC judge score=4.46/5 </a:t>
            </a:r>
            <a:r>
              <a:rPr lang="en-US" sz="1100" b="0" dirty="0" smtClean="0">
                <a:solidFill>
                  <a:srgbClr val="C0CBDC"/>
                </a:solidFill>
              </a:rPr>
              <a:t>-</a:t>
            </a:r>
            <a:r>
              <a:rPr sz="1100" b="0" dirty="0" smtClean="0">
                <a:solidFill>
                  <a:srgbClr val="C0CBDC"/>
                </a:solidFill>
              </a:rPr>
              <a:t> </a:t>
            </a:r>
            <a:r>
              <a:rPr sz="1100" b="0" dirty="0">
                <a:solidFill>
                  <a:srgbClr val="C0CBDC"/>
                </a:solidFill>
              </a:rPr>
              <a:t>polite, explained refusal </a:t>
            </a:r>
            <a:r>
              <a:rPr sz="1100" b="0" dirty="0" err="1">
                <a:solidFill>
                  <a:srgbClr val="C0CBDC"/>
                </a:solidFill>
              </a:rPr>
              <a:t>σχεδόν</a:t>
            </a:r>
            <a:r>
              <a:rPr sz="1100" b="0" dirty="0">
                <a:solidFill>
                  <a:srgbClr val="C0CBDC"/>
                </a:solidFill>
              </a:rPr>
              <a:t> π</a:t>
            </a:r>
            <a:r>
              <a:rPr sz="1100" b="0" dirty="0" err="1">
                <a:solidFill>
                  <a:srgbClr val="C0CBDC"/>
                </a:solidFill>
              </a:rPr>
              <a:t>άντ</a:t>
            </a:r>
            <a:r>
              <a:rPr sz="1100" b="0" dirty="0">
                <a:solidFill>
                  <a:srgbClr val="C0CBDC"/>
                </a:solidFill>
              </a:rPr>
              <a:t>α.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47" y="4460676"/>
            <a:ext cx="11445242" cy="723871"/>
          </a:xfrm>
          <a:prstGeom prst="rect">
            <a:avLst/>
          </a:prstGeom>
          <a:solidFill>
            <a:srgbClr val="1E3A5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3" name="TextBox 22"/>
          <p:cNvSpPr txBox="1"/>
          <p:nvPr/>
        </p:nvSpPr>
        <p:spPr>
          <a:xfrm>
            <a:off x="502906" y="4451190"/>
            <a:ext cx="109761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v3: Recall ↑ αλλά Precision tradeoff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01" y="4742351"/>
            <a:ext cx="10976175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0CBDC"/>
                </a:solidFill>
              </a:rPr>
              <a:t>Diversity </a:t>
            </a:r>
            <a:r>
              <a:rPr sz="1100" b="0" dirty="0" err="1">
                <a:solidFill>
                  <a:srgbClr val="C0CBDC"/>
                </a:solidFill>
              </a:rPr>
              <a:t>reranking</a:t>
            </a:r>
            <a:r>
              <a:rPr sz="1100" b="0" dirty="0">
                <a:solidFill>
                  <a:srgbClr val="C0CBDC"/>
                </a:solidFill>
              </a:rPr>
              <a:t>: CR +6.8% overall, +25% in-context (0.354→0.378). Trade-off: max-1-chunk/paper </a:t>
            </a:r>
            <a:r>
              <a:rPr sz="1100" b="0" dirty="0" err="1">
                <a:solidFill>
                  <a:srgbClr val="C0CBDC"/>
                </a:solidFill>
              </a:rPr>
              <a:t>μειώνει</a:t>
            </a:r>
            <a:r>
              <a:rPr sz="1100" b="0" dirty="0">
                <a:solidFill>
                  <a:srgbClr val="C0CBDC"/>
                </a:solidFill>
              </a:rPr>
              <a:t> CP </a:t>
            </a:r>
            <a:r>
              <a:rPr sz="1100" b="0" dirty="0" err="1">
                <a:solidFill>
                  <a:srgbClr val="C0CBDC"/>
                </a:solidFill>
              </a:rPr>
              <a:t>γι</a:t>
            </a:r>
            <a:r>
              <a:rPr sz="1100" b="0" dirty="0">
                <a:solidFill>
                  <a:srgbClr val="C0CBDC"/>
                </a:solidFill>
              </a:rPr>
              <a:t>α queries που θέλουν πολλά chunks ίδιου paper. Definitional CP=0.961 </a:t>
            </a:r>
            <a:r>
              <a:rPr lang="en-US" sz="1100" b="0" dirty="0" smtClean="0">
                <a:solidFill>
                  <a:srgbClr val="C0CBDC"/>
                </a:solidFill>
              </a:rPr>
              <a:t>-</a:t>
            </a:r>
            <a:r>
              <a:rPr sz="1100" b="0" dirty="0" smtClean="0">
                <a:solidFill>
                  <a:srgbClr val="C0CBDC"/>
                </a:solidFill>
              </a:rPr>
              <a:t> </a:t>
            </a:r>
            <a:r>
              <a:rPr sz="1100" b="0" dirty="0">
                <a:solidFill>
                  <a:srgbClr val="C0CBDC"/>
                </a:solidFill>
              </a:rPr>
              <a:t>specialized queries α</a:t>
            </a:r>
            <a:r>
              <a:rPr sz="1100" b="0" dirty="0" err="1">
                <a:solidFill>
                  <a:srgbClr val="C0CBDC"/>
                </a:solidFill>
              </a:rPr>
              <a:t>ριστεύουν</a:t>
            </a:r>
            <a:r>
              <a:rPr sz="1100" b="0" dirty="0">
                <a:solidFill>
                  <a:srgbClr val="C0CBDC"/>
                </a:solidFill>
              </a:rPr>
              <a:t> </a:t>
            </a:r>
            <a:r>
              <a:rPr sz="1100" b="0" dirty="0" err="1">
                <a:solidFill>
                  <a:srgbClr val="C0CBDC"/>
                </a:solidFill>
              </a:rPr>
              <a:t>με</a:t>
            </a:r>
            <a:r>
              <a:rPr sz="1100" b="0" dirty="0">
                <a:solidFill>
                  <a:srgbClr val="C0CBDC"/>
                </a:solidFill>
              </a:rPr>
              <a:t> aliases.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39" y="5288914"/>
            <a:ext cx="11445240" cy="712562"/>
          </a:xfrm>
          <a:prstGeom prst="rect">
            <a:avLst/>
          </a:prstGeom>
          <a:solidFill>
            <a:srgbClr val="1E3A5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7" name="TextBox 26"/>
          <p:cNvSpPr txBox="1"/>
          <p:nvPr/>
        </p:nvSpPr>
        <p:spPr>
          <a:xfrm>
            <a:off x="502898" y="5279428"/>
            <a:ext cx="1097617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Production-ready από </a:t>
            </a:r>
            <a:r>
              <a:rPr b="1" dirty="0" err="1">
                <a:solidFill>
                  <a:srgbClr val="FFFFFF"/>
                </a:solidFill>
              </a:rPr>
              <a:t>την</a:t>
            </a:r>
            <a:r>
              <a:rPr b="1" dirty="0">
                <a:solidFill>
                  <a:srgbClr val="FFFFFF"/>
                </a:solidFill>
              </a:rPr>
              <a:t> π</a:t>
            </a:r>
            <a:r>
              <a:rPr b="1" dirty="0" err="1">
                <a:solidFill>
                  <a:srgbClr val="FFFFFF"/>
                </a:solidFill>
              </a:rPr>
              <a:t>ρώτη</a:t>
            </a:r>
            <a:r>
              <a:rPr b="1" dirty="0">
                <a:solidFill>
                  <a:srgbClr val="FFFFFF"/>
                </a:solidFill>
              </a:rPr>
              <a:t> </a:t>
            </a:r>
            <a:r>
              <a:rPr b="1" dirty="0" err="1">
                <a:solidFill>
                  <a:srgbClr val="FFFFFF"/>
                </a:solidFill>
              </a:rPr>
              <a:t>μέρ</a:t>
            </a:r>
            <a:r>
              <a:rPr b="1" dirty="0">
                <a:solidFill>
                  <a:srgbClr val="FFFFFF"/>
                </a:solidFill>
              </a:rPr>
              <a:t>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893" y="5570589"/>
            <a:ext cx="10976173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BDC"/>
                </a:solidFill>
              </a:rPr>
              <a:t>Docker Compose: Qdrant + Langfuse + Chainlit → ένα `docker compose up`. SQLite multi-namespace cache: embeddings + judge + ArXiv (SHA-256 keyed). Self-hosted Langfuse: full trace visibility, κόστος/query, χωρίς cloud dependency.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76896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 err="1"/>
              <a:t>PaperPilot</a:t>
            </a:r>
            <a:r>
              <a:rPr sz="1000" b="0" dirty="0"/>
              <a:t> </a:t>
            </a:r>
            <a:r>
              <a:rPr lang="el-GR" sz="1000" b="0" dirty="0" smtClean="0"/>
              <a:t>-</a:t>
            </a:r>
            <a:r>
              <a:rPr sz="1000" b="0" dirty="0" smtClean="0"/>
              <a:t> </a:t>
            </a:r>
            <a:r>
              <a:rPr sz="1000" b="0" dirty="0"/>
              <a:t>Σπ</a:t>
            </a:r>
            <a:r>
              <a:rPr sz="1000" b="0" dirty="0" err="1"/>
              <a:t>υρίδων</a:t>
            </a:r>
            <a:r>
              <a:rPr sz="1000" b="0" dirty="0"/>
              <a:t> </a:t>
            </a:r>
            <a:r>
              <a:rPr lang="el-GR" sz="1000" b="0" dirty="0" smtClean="0"/>
              <a:t>Τσιλιμπώκος</a:t>
            </a:r>
            <a:r>
              <a:rPr lang="el-GR" sz="1000" dirty="0"/>
              <a:t> </a:t>
            </a:r>
            <a:r>
              <a:rPr lang="el-GR" sz="1000" dirty="0" smtClean="0"/>
              <a:t>- </a:t>
            </a:r>
            <a:r>
              <a:rPr sz="1000" b="0" dirty="0" smtClean="0"/>
              <a:t>25118 </a:t>
            </a:r>
            <a:endParaRPr lang="el-GR" sz="1000" b="0" dirty="0" smtClean="0"/>
          </a:p>
          <a:p>
            <a:pPr algn="ctr"/>
            <a:r>
              <a:rPr sz="1000" b="0" dirty="0" smtClean="0"/>
              <a:t>06/2026</a:t>
            </a:r>
            <a:endParaRPr sz="1000" b="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69" y="0"/>
            <a:ext cx="3146383" cy="743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3682</Words>
  <Application>Microsoft Office PowerPoint</Application>
  <PresentationFormat>Custom</PresentationFormat>
  <Paragraphs>653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Rounded MT Bold</vt:lpstr>
      <vt:lpstr>Bahnschrift SemiBold</vt:lpstr>
      <vt:lpstr>Bahnschrift SemiLight SemiConde</vt:lpstr>
      <vt:lpstr>Calibri</vt:lpstr>
      <vt:lpstr>Lucida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Spyros Tsl.</cp:lastModifiedBy>
  <cp:revision>85</cp:revision>
  <dcterms:created xsi:type="dcterms:W3CDTF">2013-01-27T09:14:16Z</dcterms:created>
  <dcterms:modified xsi:type="dcterms:W3CDTF">2026-06-14T16:15:53Z</dcterms:modified>
  <cp:category/>
</cp:coreProperties>
</file>